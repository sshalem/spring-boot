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9" r:id="rId3"/>
    <p:sldId id="260" r:id="rId4"/>
    <p:sldId id="261" r:id="rId5"/>
    <p:sldId id="262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31C619-659A-4F59-AC7E-E22840BCDA33}" v="9" dt="2022-12-19T00:02:55.6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707" autoAdjust="0"/>
  </p:normalViewPr>
  <p:slideViewPr>
    <p:cSldViewPr snapToGrid="0" showGuides="1">
      <p:cViewPr varScale="1">
        <p:scale>
          <a:sx n="110" d="100"/>
          <a:sy n="110" d="100"/>
        </p:scale>
        <p:origin x="594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abtay Shalem" userId="66e1f221-167e-42a1-ab35-ae7334e3b63f" providerId="ADAL" clId="{0531C619-659A-4F59-AC7E-E22840BCDA33}"/>
    <pc:docChg chg="custSel modMainMaster">
      <pc:chgData name="Shabtay Shalem" userId="66e1f221-167e-42a1-ab35-ae7334e3b63f" providerId="ADAL" clId="{0531C619-659A-4F59-AC7E-E22840BCDA33}" dt="2022-12-19T00:02:55.626" v="30"/>
      <pc:docMkLst>
        <pc:docMk/>
      </pc:docMkLst>
      <pc:sldMasterChg chg="addSp modSp mod">
        <pc:chgData name="Shabtay Shalem" userId="66e1f221-167e-42a1-ab35-ae7334e3b63f" providerId="ADAL" clId="{0531C619-659A-4F59-AC7E-E22840BCDA33}" dt="2022-12-19T00:02:55.626" v="30"/>
        <pc:sldMasterMkLst>
          <pc:docMk/>
          <pc:sldMasterMk cId="1164929714" sldId="2147483648"/>
        </pc:sldMasterMkLst>
        <pc:spChg chg="add mod ord modVis">
          <ac:chgData name="Shabtay Shalem" userId="66e1f221-167e-42a1-ab35-ae7334e3b63f" providerId="ADAL" clId="{0531C619-659A-4F59-AC7E-E22840BCDA33}" dt="2022-12-19T00:02:55.626" v="30"/>
          <ac:spMkLst>
            <pc:docMk/>
            <pc:sldMasterMk cId="1164929714" sldId="2147483648"/>
            <ac:spMk id="7" creationId="{301E2244-036C-431A-A644-1C4D02F8E5C7}"/>
          </ac:spMkLst>
        </pc:sp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35A715A-4E3D-47D0-A386-7DBD8CC75CAA}" type="datetimeFigureOut">
              <a:rPr lang="en-US" smtClean="0"/>
              <a:t>12/24/2022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BCA59B-B642-4ED7-B3DB-3E8740693B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0283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FBCA59B-B642-4ED7-B3DB-3E8740693BC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67827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FBCA59B-B642-4ED7-B3DB-3E8740693BC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5430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FBCA59B-B642-4ED7-B3DB-3E8740693BC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45129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FBCA59B-B642-4ED7-B3DB-3E8740693BC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0558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F986473-48FF-48D2-BE87-8E6EF1DE5C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34E5E0FE-6852-4CAB-B62E-982090E13B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02AD77F6-FA2D-48AC-A2E1-97A3C253D0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471C-15C6-430F-A1D2-F5E2439A92BD}" type="datetimeFigureOut">
              <a:rPr lang="en-US" smtClean="0"/>
              <a:t>12/24/2022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B06C71EF-5AB6-482F-82DD-661F92C0E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45B588E1-4B96-4D36-ABFE-54B521327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2F4E-554E-4B5B-B2B5-78CBA8795B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261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EF0529E-423B-4047-9641-A0394321E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175E3BE1-1952-422C-8C38-09A610ED50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594F9D89-0318-45AB-8EF4-E4DBA4A04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471C-15C6-430F-A1D2-F5E2439A92BD}" type="datetimeFigureOut">
              <a:rPr lang="en-US" smtClean="0"/>
              <a:t>12/24/2022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49C2FA9B-8333-4AC8-B604-6DA7FF617F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9DF7D1F3-52D2-4029-B862-10440113C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2F4E-554E-4B5B-B2B5-78CBA8795B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84799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BA45855-39EF-47A0-A504-C639015C3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F98B8D24-F025-4281-B9EF-271FEE07FB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24167402-33D3-402F-9A4F-0CC943C3D7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471C-15C6-430F-A1D2-F5E2439A92BD}" type="datetimeFigureOut">
              <a:rPr lang="en-US" smtClean="0"/>
              <a:t>12/24/2022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E8406ADB-3CD4-4A9F-8E63-00F73D91C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FDF6385E-3E04-47C6-9AF2-E7AB2D906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2F4E-554E-4B5B-B2B5-78CBA8795B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14533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D6CCC0B-9F72-4E67-83AA-7B36B19652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E7B63006-8859-4E31-9A7B-732066FD28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="" xmlns:a16="http://schemas.microsoft.com/office/drawing/2014/main" id="{5D54DF68-216B-42C3-9256-63ADC1AA0F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0F8CB3C2-36F1-4E0E-87E4-722E0A2B8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471C-15C6-430F-A1D2-F5E2439A92BD}" type="datetimeFigureOut">
              <a:rPr lang="en-US" smtClean="0"/>
              <a:t>12/24/2022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47A426AA-98E5-4C32-BD26-67433988A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AEF93DAC-53DB-48BB-8C16-553726965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2F4E-554E-4B5B-B2B5-78CBA8795B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19533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45ED9B5-95EB-42C7-9485-646F75953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433D3E70-C817-4747-B196-2EE7F616E5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="" xmlns:a16="http://schemas.microsoft.com/office/drawing/2014/main" id="{89E43232-D7AE-4CEA-B0CD-A62351B134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="" xmlns:a16="http://schemas.microsoft.com/office/drawing/2014/main" id="{F1BF8678-D57B-4B16-AA25-CD85B19E1B3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="" xmlns:a16="http://schemas.microsoft.com/office/drawing/2014/main" id="{7DCBE630-179A-4327-878B-3847467281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="" xmlns:a16="http://schemas.microsoft.com/office/drawing/2014/main" id="{E532529C-12B5-4D3A-A59C-5829E7D425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471C-15C6-430F-A1D2-F5E2439A92BD}" type="datetimeFigureOut">
              <a:rPr lang="en-US" smtClean="0"/>
              <a:t>12/24/2022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="" xmlns:a16="http://schemas.microsoft.com/office/drawing/2014/main" id="{D40F80FF-DCE0-4C7C-8044-57BFC37C5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="" xmlns:a16="http://schemas.microsoft.com/office/drawing/2014/main" id="{C8F2F391-E1E7-4833-9AFF-E9A7A6123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2F4E-554E-4B5B-B2B5-78CBA8795B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4519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6120F39E-D600-4EF7-8592-B5B8CA1FB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="" xmlns:a16="http://schemas.microsoft.com/office/drawing/2014/main" id="{A5CB6ADA-F787-43FE-AC74-6E61D078A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471C-15C6-430F-A1D2-F5E2439A92BD}" type="datetimeFigureOut">
              <a:rPr lang="en-US" smtClean="0"/>
              <a:t>12/24/2022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="" xmlns:a16="http://schemas.microsoft.com/office/drawing/2014/main" id="{2EDD119A-D885-4E6D-A0EF-6EA781CCF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="" xmlns:a16="http://schemas.microsoft.com/office/drawing/2014/main" id="{AE921555-C8FE-4D6F-9562-9BF9FC738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2F4E-554E-4B5B-B2B5-78CBA8795B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41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="" xmlns:a16="http://schemas.microsoft.com/office/drawing/2014/main" id="{A53558C2-1A82-4EF4-8BAA-764708819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471C-15C6-430F-A1D2-F5E2439A92BD}" type="datetimeFigureOut">
              <a:rPr lang="en-US" smtClean="0"/>
              <a:t>12/24/2022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="" xmlns:a16="http://schemas.microsoft.com/office/drawing/2014/main" id="{99F012A8-7436-429E-8F24-73C22C8E09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6C8E85BE-B27C-485C-B2B0-085F09F73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2F4E-554E-4B5B-B2B5-78CBA8795B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3420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8EB7628-37D5-483E-BF2D-227BF43C7D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B6A4EEEF-9654-4C68-98D6-223555EE59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00DA8380-51B0-4F28-85FC-067FB8CF17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B43A1E1A-A745-4419-94DF-F1664473D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471C-15C6-430F-A1D2-F5E2439A92BD}" type="datetimeFigureOut">
              <a:rPr lang="en-US" smtClean="0"/>
              <a:t>12/24/2022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BE7AF249-9AA1-4A7B-ABEC-1DA340BA47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21A5C071-8445-4D81-8E03-FE52BB467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2F4E-554E-4B5B-B2B5-78CBA8795B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3563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0E3F1C17-470B-42F4-9A17-35826AA08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="" xmlns:a16="http://schemas.microsoft.com/office/drawing/2014/main" id="{845AFDA6-55BA-4CCC-A3D1-0D28903D9F6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42A2F931-34E2-4203-BC74-DBEDFA5F7D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0AAC29A3-3865-4E50-8B48-16A0F74C02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471C-15C6-430F-A1D2-F5E2439A92BD}" type="datetimeFigureOut">
              <a:rPr lang="en-US" smtClean="0"/>
              <a:t>12/24/2022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BDC00C21-8A04-424A-8FA8-1ECDEB8CD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F42CD0FE-C8F0-4EAA-94BC-6E82306B6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2F4E-554E-4B5B-B2B5-78CBA8795B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8408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8B4BF2C-5868-4FE8-A0A8-0C99FC85D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="" xmlns:a16="http://schemas.microsoft.com/office/drawing/2014/main" id="{608961FA-067D-4E13-AEE4-DEB564415E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F8A3B194-BC00-4F26-B44D-AE804D4EE3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471C-15C6-430F-A1D2-F5E2439A92BD}" type="datetimeFigureOut">
              <a:rPr lang="en-US" smtClean="0"/>
              <a:t>12/24/2022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36DF11C2-1180-4F31-81D4-FA146263D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F8B629C9-776A-494E-89FD-1C76FE331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2F4E-554E-4B5B-B2B5-78CBA8795B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9075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="" xmlns:a16="http://schemas.microsoft.com/office/drawing/2014/main" id="{70D0F334-FD00-46CD-A061-98BDFB571F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="" xmlns:a16="http://schemas.microsoft.com/office/drawing/2014/main" id="{FFEBB3B4-1969-4250-84C3-4B5990EF68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DB3F33DF-0039-4597-9B92-BE74F88DB2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471C-15C6-430F-A1D2-F5E2439A92BD}" type="datetimeFigureOut">
              <a:rPr lang="en-US" smtClean="0"/>
              <a:t>12/24/2022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509961BE-F2FE-448E-9C62-B734E083CB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5E7319AA-624B-41FF-A3D7-333FA6DA8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2F4E-554E-4B5B-B2B5-78CBA8795B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1365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="" xmlns:a16="http://schemas.microsoft.com/office/drawing/2014/main" id="{940A7DD8-7706-4514-90E2-C24E40A94D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3981306D-1561-42BE-A13B-EA5C01B087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97FBF928-F762-45BA-8F1B-7BF281188E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F0471C-15C6-430F-A1D2-F5E2439A92BD}" type="datetimeFigureOut">
              <a:rPr lang="en-US" smtClean="0"/>
              <a:t>12/24/2022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8BE2224F-E8B6-4AA6-A581-266221933E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16D3250F-2726-4163-8DC1-97CCB3BC9E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5D2F4E-554E-4B5B-B2B5-78CBA8795BAC}" type="slidenum">
              <a:rPr lang="en-US" smtClean="0"/>
              <a:t>‹#›</a:t>
            </a:fld>
            <a:endParaRPr lang="en-US"/>
          </a:p>
        </p:txBody>
      </p:sp>
      <p:sp>
        <p:nvSpPr>
          <p:cNvPr id="7" name="MSIPCMContentMarking" descr="{&quot;HashCode&quot;:1596673254,&quot;Placement&quot;:&quot;Footer&quot;,&quot;Top&quot;:524.1047,&quot;Left&quot;:923.827,&quot;SlideWidth&quot;:960,&quot;SlideHeight&quot;:540}">
            <a:extLst>
              <a:ext uri="{FF2B5EF4-FFF2-40B4-BE49-F238E27FC236}">
                <a16:creationId xmlns="" xmlns:a16="http://schemas.microsoft.com/office/drawing/2014/main" id="{301E2244-036C-431A-A644-1C4D02F8E5C7}"/>
              </a:ext>
            </a:extLst>
          </p:cNvPr>
          <p:cNvSpPr txBox="1"/>
          <p:nvPr userDrawn="1"/>
        </p:nvSpPr>
        <p:spPr>
          <a:xfrm>
            <a:off x="11732603" y="6656129"/>
            <a:ext cx="459397" cy="20187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700">
                <a:solidFill>
                  <a:srgbClr val="000000"/>
                </a:solidFill>
                <a:latin typeface="Arial" panose="020B06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11649297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="" xmlns:a16="http://schemas.microsoft.com/office/drawing/2014/main" id="{280D6242-586B-4726-BC93-86C917CE8E52}"/>
              </a:ext>
            </a:extLst>
          </p:cNvPr>
          <p:cNvSpPr/>
          <p:nvPr/>
        </p:nvSpPr>
        <p:spPr>
          <a:xfrm>
            <a:off x="1123855" y="1827753"/>
            <a:ext cx="1968560" cy="99777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/>
              <a:t>TransactionManagement Controller</a:t>
            </a:r>
          </a:p>
          <a:p>
            <a:pPr algn="ctr"/>
            <a:r>
              <a:rPr lang="en-US" sz="1000" dirty="0"/>
              <a:t>joinOrganization()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="" xmlns:a16="http://schemas.microsoft.com/office/drawing/2014/main" id="{1AFD95DB-EE82-4014-8431-753B408C671F}"/>
              </a:ext>
            </a:extLst>
          </p:cNvPr>
          <p:cNvSpPr/>
          <p:nvPr/>
        </p:nvSpPr>
        <p:spPr>
          <a:xfrm>
            <a:off x="3945989" y="1827753"/>
            <a:ext cx="3348969" cy="997771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u="sng" dirty="0"/>
              <a:t>OrganizationService</a:t>
            </a:r>
          </a:p>
          <a:p>
            <a:r>
              <a:rPr lang="en-US" sz="1100" dirty="0"/>
              <a:t>joinOrganization() {</a:t>
            </a:r>
          </a:p>
          <a:p>
            <a:r>
              <a:rPr lang="en-US" sz="900" dirty="0"/>
              <a:t>       employeeService.addEmployee();</a:t>
            </a:r>
          </a:p>
          <a:p>
            <a:r>
              <a:rPr lang="en-US" sz="900" dirty="0"/>
              <a:t>       healthInsuranceService.registerEmployeeHealthInsurance()</a:t>
            </a:r>
          </a:p>
          <a:p>
            <a:r>
              <a:rPr lang="en-US" sz="1300" dirty="0"/>
              <a:t>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="" xmlns:a16="http://schemas.microsoft.com/office/drawing/2014/main" id="{5A1BEE6C-84E1-4224-B447-1AC8A888AAC0}"/>
              </a:ext>
            </a:extLst>
          </p:cNvPr>
          <p:cNvSpPr/>
          <p:nvPr/>
        </p:nvSpPr>
        <p:spPr>
          <a:xfrm>
            <a:off x="9355523" y="571245"/>
            <a:ext cx="1784682" cy="637672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EmployeeService</a:t>
            </a:r>
          </a:p>
          <a:p>
            <a:pPr algn="ctr"/>
            <a:endParaRPr lang="en-US" sz="1100" dirty="0"/>
          </a:p>
          <a:p>
            <a:pPr algn="ctr"/>
            <a:endParaRPr lang="en-US" sz="11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="" xmlns:a16="http://schemas.microsoft.com/office/drawing/2014/main" id="{C39141B1-20FA-423F-B75B-5471535624C8}"/>
              </a:ext>
            </a:extLst>
          </p:cNvPr>
          <p:cNvSpPr/>
          <p:nvPr/>
        </p:nvSpPr>
        <p:spPr>
          <a:xfrm>
            <a:off x="9457301" y="864012"/>
            <a:ext cx="1605243" cy="304800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EmployeeRepository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="" xmlns:a16="http://schemas.microsoft.com/office/drawing/2014/main" id="{81CE814C-51C2-45D8-9AA1-5DF8C38665AD}"/>
              </a:ext>
            </a:extLst>
          </p:cNvPr>
          <p:cNvSpPr/>
          <p:nvPr/>
        </p:nvSpPr>
        <p:spPr>
          <a:xfrm>
            <a:off x="9277862" y="3645011"/>
            <a:ext cx="1784682" cy="637672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HealthInsuranceService</a:t>
            </a:r>
          </a:p>
          <a:p>
            <a:pPr algn="ctr"/>
            <a:endParaRPr lang="en-US" sz="1100" dirty="0"/>
          </a:p>
          <a:p>
            <a:pPr algn="ctr"/>
            <a:endParaRPr lang="en-US" sz="110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="" xmlns:a16="http://schemas.microsoft.com/office/drawing/2014/main" id="{E25DC19F-6B3A-4545-BDB8-13C5481B9137}"/>
              </a:ext>
            </a:extLst>
          </p:cNvPr>
          <p:cNvSpPr/>
          <p:nvPr/>
        </p:nvSpPr>
        <p:spPr>
          <a:xfrm>
            <a:off x="9379641" y="3937778"/>
            <a:ext cx="1605243" cy="304800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HealthInsuranceRepository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="" xmlns:a16="http://schemas.microsoft.com/office/drawing/2014/main" id="{DA11DF66-EB94-42A7-A712-9922433548FE}"/>
              </a:ext>
            </a:extLst>
          </p:cNvPr>
          <p:cNvCxnSpPr>
            <a:stCxn id="11" idx="3"/>
            <a:endCxn id="12" idx="1"/>
          </p:cNvCxnSpPr>
          <p:nvPr/>
        </p:nvCxnSpPr>
        <p:spPr>
          <a:xfrm flipV="1">
            <a:off x="7294958" y="890081"/>
            <a:ext cx="2060565" cy="14365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="" xmlns:a16="http://schemas.microsoft.com/office/drawing/2014/main" id="{9ADF6F6C-444B-4360-9821-C523FAFE1E57}"/>
              </a:ext>
            </a:extLst>
          </p:cNvPr>
          <p:cNvSpPr txBox="1"/>
          <p:nvPr/>
        </p:nvSpPr>
        <p:spPr>
          <a:xfrm rot="19474625">
            <a:off x="7719651" y="1341780"/>
            <a:ext cx="12111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</a:rPr>
              <a:t>addEmployee()</a:t>
            </a:r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="" xmlns:a16="http://schemas.microsoft.com/office/drawing/2014/main" id="{EB1F8E18-9264-4C4C-A388-691903EE6285}"/>
              </a:ext>
            </a:extLst>
          </p:cNvPr>
          <p:cNvCxnSpPr>
            <a:cxnSpLocks/>
            <a:stCxn id="11" idx="3"/>
            <a:endCxn id="14" idx="1"/>
          </p:cNvCxnSpPr>
          <p:nvPr/>
        </p:nvCxnSpPr>
        <p:spPr>
          <a:xfrm>
            <a:off x="7294958" y="2326639"/>
            <a:ext cx="1982904" cy="163720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="" xmlns:a16="http://schemas.microsoft.com/office/drawing/2014/main" id="{6EBEDE39-1CAE-42E5-98DB-1687FB9FF878}"/>
              </a:ext>
            </a:extLst>
          </p:cNvPr>
          <p:cNvCxnSpPr/>
          <p:nvPr/>
        </p:nvCxnSpPr>
        <p:spPr>
          <a:xfrm flipV="1">
            <a:off x="7294960" y="890081"/>
            <a:ext cx="2060563" cy="143655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="" xmlns:a16="http://schemas.microsoft.com/office/drawing/2014/main" id="{C0DE93DA-4E5B-4155-9045-9C20A40BBD7D}"/>
              </a:ext>
            </a:extLst>
          </p:cNvPr>
          <p:cNvSpPr txBox="1"/>
          <p:nvPr/>
        </p:nvSpPr>
        <p:spPr>
          <a:xfrm rot="2424475">
            <a:off x="7269731" y="3085067"/>
            <a:ext cx="25120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registerEmployeeHealthInsurance()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="" xmlns:a16="http://schemas.microsoft.com/office/drawing/2014/main" id="{D8CA6A16-C24E-403F-92DA-24201808389D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106693" y="2326639"/>
            <a:ext cx="83929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="" xmlns:a16="http://schemas.microsoft.com/office/drawing/2014/main" id="{1AF07EEB-8486-4019-9959-3F0CBF0C6A66}"/>
              </a:ext>
            </a:extLst>
          </p:cNvPr>
          <p:cNvCxnSpPr>
            <a:cxnSpLocks/>
          </p:cNvCxnSpPr>
          <p:nvPr/>
        </p:nvCxnSpPr>
        <p:spPr>
          <a:xfrm>
            <a:off x="284559" y="2326639"/>
            <a:ext cx="83929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="" xmlns:a16="http://schemas.microsoft.com/office/drawing/2014/main" id="{452BE8F3-0295-4B15-80B4-B2026225BC92}"/>
              </a:ext>
            </a:extLst>
          </p:cNvPr>
          <p:cNvSpPr txBox="1"/>
          <p:nvPr/>
        </p:nvSpPr>
        <p:spPr>
          <a:xfrm>
            <a:off x="221029" y="1864973"/>
            <a:ext cx="12111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</a:rPr>
              <a:t>HTTP Get Request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09971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="" xmlns:a16="http://schemas.microsoft.com/office/drawing/2014/main" id="{452BE8F3-0295-4B15-80B4-B2026225BC92}"/>
              </a:ext>
            </a:extLst>
          </p:cNvPr>
          <p:cNvSpPr txBox="1"/>
          <p:nvPr/>
        </p:nvSpPr>
        <p:spPr>
          <a:xfrm>
            <a:off x="2882517" y="455561"/>
            <a:ext cx="191403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 smtClean="0">
                <a:solidFill>
                  <a:srgbClr val="002060"/>
                </a:solidFill>
              </a:rPr>
              <a:t>Executed in </a:t>
            </a:r>
          </a:p>
          <a:p>
            <a:pPr algn="ctr"/>
            <a:r>
              <a:rPr lang="en-US" sz="2000" dirty="0" smtClean="0">
                <a:solidFill>
                  <a:srgbClr val="002060"/>
                </a:solidFill>
              </a:rPr>
              <a:t>Transaction T1</a:t>
            </a:r>
            <a:endParaRPr lang="en-US" sz="2000" dirty="0"/>
          </a:p>
        </p:txBody>
      </p:sp>
      <p:sp>
        <p:nvSpPr>
          <p:cNvPr id="24" name="Rectangle: Rounded Corners 14">
            <a:extLst>
              <a:ext uri="{FF2B5EF4-FFF2-40B4-BE49-F238E27FC236}">
                <a16:creationId xmlns="" xmlns:a16="http://schemas.microsoft.com/office/drawing/2014/main" id="{E25DC19F-6B3A-4545-BDB8-13C5481B9137}"/>
              </a:ext>
            </a:extLst>
          </p:cNvPr>
          <p:cNvSpPr/>
          <p:nvPr/>
        </p:nvSpPr>
        <p:spPr>
          <a:xfrm>
            <a:off x="2281647" y="1156497"/>
            <a:ext cx="1202410" cy="212228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 smtClean="0"/>
              <a:t>Begin Transaction T1</a:t>
            </a:r>
            <a:endParaRPr lang="en-US" sz="900" dirty="0"/>
          </a:p>
        </p:txBody>
      </p:sp>
      <p:sp>
        <p:nvSpPr>
          <p:cNvPr id="27" name="Rectangle: Rounded Corners 14">
            <a:extLst>
              <a:ext uri="{FF2B5EF4-FFF2-40B4-BE49-F238E27FC236}">
                <a16:creationId xmlns="" xmlns:a16="http://schemas.microsoft.com/office/drawing/2014/main" id="{E25DC19F-6B3A-4545-BDB8-13C5481B9137}"/>
              </a:ext>
            </a:extLst>
          </p:cNvPr>
          <p:cNvSpPr/>
          <p:nvPr/>
        </p:nvSpPr>
        <p:spPr>
          <a:xfrm>
            <a:off x="2281647" y="2172269"/>
            <a:ext cx="1202410" cy="212228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 smtClean="0"/>
              <a:t>End Transaction T1</a:t>
            </a:r>
            <a:endParaRPr lang="en-US" sz="900" dirty="0"/>
          </a:p>
        </p:txBody>
      </p:sp>
      <p:sp>
        <p:nvSpPr>
          <p:cNvPr id="8" name="Rounded Rectangle 7"/>
          <p:cNvSpPr/>
          <p:nvPr/>
        </p:nvSpPr>
        <p:spPr>
          <a:xfrm>
            <a:off x="1976847" y="448611"/>
            <a:ext cx="3666308" cy="216396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2116184" y="1759132"/>
            <a:ext cx="399923" cy="25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="" xmlns:a16="http://schemas.microsoft.com/office/drawing/2014/main" id="{452BE8F3-0295-4B15-80B4-B2026225BC92}"/>
              </a:ext>
            </a:extLst>
          </p:cNvPr>
          <p:cNvSpPr txBox="1"/>
          <p:nvPr/>
        </p:nvSpPr>
        <p:spPr>
          <a:xfrm>
            <a:off x="4638238" y="3405171"/>
            <a:ext cx="191403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 smtClean="0">
                <a:solidFill>
                  <a:srgbClr val="002060"/>
                </a:solidFill>
              </a:rPr>
              <a:t>Executed in </a:t>
            </a:r>
          </a:p>
          <a:p>
            <a:pPr algn="ctr"/>
            <a:r>
              <a:rPr lang="en-US" sz="2000" dirty="0" smtClean="0">
                <a:solidFill>
                  <a:srgbClr val="002060"/>
                </a:solidFill>
              </a:rPr>
              <a:t>Transaction T1</a:t>
            </a:r>
            <a:endParaRPr lang="en-US" sz="2000" dirty="0"/>
          </a:p>
        </p:txBody>
      </p:sp>
      <p:sp>
        <p:nvSpPr>
          <p:cNvPr id="37" name="Rectangle: Rounded Corners 11">
            <a:extLst>
              <a:ext uri="{FF2B5EF4-FFF2-40B4-BE49-F238E27FC236}">
                <a16:creationId xmlns="" xmlns:a16="http://schemas.microsoft.com/office/drawing/2014/main" id="{5A1BEE6C-84E1-4224-B447-1AC8A888AAC0}"/>
              </a:ext>
            </a:extLst>
          </p:cNvPr>
          <p:cNvSpPr/>
          <p:nvPr/>
        </p:nvSpPr>
        <p:spPr>
          <a:xfrm>
            <a:off x="2516107" y="4320263"/>
            <a:ext cx="2909334" cy="796023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 smtClean="0">
                <a:solidFill>
                  <a:srgbClr val="7030A0"/>
                </a:solidFill>
              </a:rPr>
              <a:t>OrganizationServiceImpl</a:t>
            </a:r>
          </a:p>
          <a:p>
            <a:r>
              <a:rPr lang="en-US" sz="900" b="1" dirty="0" smtClean="0">
                <a:solidFill>
                  <a:schemeClr val="bg2">
                    <a:lumMod val="75000"/>
                  </a:schemeClr>
                </a:solidFill>
              </a:rPr>
              <a:t>@Transactional</a:t>
            </a:r>
            <a:r>
              <a:rPr lang="en-US" sz="900" dirty="0" smtClean="0">
                <a:solidFill>
                  <a:schemeClr val="tx1"/>
                </a:solidFill>
              </a:rPr>
              <a:t>(propagation = Propagation.</a:t>
            </a:r>
            <a:r>
              <a:rPr lang="en-US" sz="900" b="1" i="1" dirty="0" smtClean="0">
                <a:solidFill>
                  <a:srgbClr val="0000FF"/>
                </a:solidFill>
              </a:rPr>
              <a:t>REQUIRED</a:t>
            </a:r>
            <a:r>
              <a:rPr lang="en-US" sz="900" i="1" dirty="0" smtClean="0">
                <a:solidFill>
                  <a:schemeClr val="tx1"/>
                </a:solidFill>
              </a:rPr>
              <a:t>)</a:t>
            </a:r>
          </a:p>
          <a:p>
            <a:r>
              <a:rPr lang="en-US" sz="900" b="1" dirty="0">
                <a:solidFill>
                  <a:srgbClr val="FF0000"/>
                </a:solidFill>
              </a:rPr>
              <a:t>public</a:t>
            </a:r>
            <a:r>
              <a:rPr lang="en-US" sz="900" dirty="0">
                <a:solidFill>
                  <a:schemeClr val="tx1"/>
                </a:solidFill>
              </a:rPr>
              <a:t> void </a:t>
            </a:r>
            <a:r>
              <a:rPr lang="en-US" sz="900" b="1" dirty="0">
                <a:solidFill>
                  <a:srgbClr val="C00000"/>
                </a:solidFill>
              </a:rPr>
              <a:t>joinOrganization</a:t>
            </a:r>
            <a:r>
              <a:rPr lang="en-US" sz="900" dirty="0">
                <a:solidFill>
                  <a:schemeClr val="tx1"/>
                </a:solidFill>
              </a:rPr>
              <a:t>() {</a:t>
            </a:r>
          </a:p>
          <a:p>
            <a:r>
              <a:rPr lang="en-US" sz="900" dirty="0">
                <a:solidFill>
                  <a:schemeClr val="tx1"/>
                </a:solidFill>
              </a:rPr>
              <a:t>}</a:t>
            </a:r>
          </a:p>
        </p:txBody>
      </p:sp>
      <p:sp>
        <p:nvSpPr>
          <p:cNvPr id="38" name="Rectangle: Rounded Corners 14">
            <a:extLst>
              <a:ext uri="{FF2B5EF4-FFF2-40B4-BE49-F238E27FC236}">
                <a16:creationId xmlns="" xmlns:a16="http://schemas.microsoft.com/office/drawing/2014/main" id="{E25DC19F-6B3A-4545-BDB8-13C5481B9137}"/>
              </a:ext>
            </a:extLst>
          </p:cNvPr>
          <p:cNvSpPr/>
          <p:nvPr/>
        </p:nvSpPr>
        <p:spPr>
          <a:xfrm>
            <a:off x="2281647" y="4113057"/>
            <a:ext cx="1202410" cy="212228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 smtClean="0"/>
              <a:t>Begin Transaction T1</a:t>
            </a:r>
            <a:endParaRPr lang="en-US" sz="900" dirty="0"/>
          </a:p>
        </p:txBody>
      </p:sp>
      <p:sp>
        <p:nvSpPr>
          <p:cNvPr id="39" name="Rectangle: Rounded Corners 14">
            <a:extLst>
              <a:ext uri="{FF2B5EF4-FFF2-40B4-BE49-F238E27FC236}">
                <a16:creationId xmlns="" xmlns:a16="http://schemas.microsoft.com/office/drawing/2014/main" id="{E25DC19F-6B3A-4545-BDB8-13C5481B9137}"/>
              </a:ext>
            </a:extLst>
          </p:cNvPr>
          <p:cNvSpPr/>
          <p:nvPr/>
        </p:nvSpPr>
        <p:spPr>
          <a:xfrm>
            <a:off x="2281647" y="5128829"/>
            <a:ext cx="1202410" cy="212228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 smtClean="0"/>
              <a:t>End Transaction T1</a:t>
            </a:r>
            <a:endParaRPr lang="en-US" sz="900" dirty="0"/>
          </a:p>
        </p:txBody>
      </p:sp>
      <p:sp>
        <p:nvSpPr>
          <p:cNvPr id="40" name="Rounded Rectangle 39"/>
          <p:cNvSpPr/>
          <p:nvPr/>
        </p:nvSpPr>
        <p:spPr>
          <a:xfrm>
            <a:off x="1976846" y="3405171"/>
            <a:ext cx="7123611" cy="216396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: Rounded Corners 11">
            <a:extLst>
              <a:ext uri="{FF2B5EF4-FFF2-40B4-BE49-F238E27FC236}">
                <a16:creationId xmlns="" xmlns:a16="http://schemas.microsoft.com/office/drawing/2014/main" id="{5A1BEE6C-84E1-4224-B447-1AC8A888AAC0}"/>
              </a:ext>
            </a:extLst>
          </p:cNvPr>
          <p:cNvSpPr/>
          <p:nvPr/>
        </p:nvSpPr>
        <p:spPr>
          <a:xfrm>
            <a:off x="5973409" y="4332806"/>
            <a:ext cx="2909334" cy="796023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 smtClean="0">
                <a:solidFill>
                  <a:srgbClr val="7030A0"/>
                </a:solidFill>
              </a:rPr>
              <a:t>EmployeeServiceImpl</a:t>
            </a:r>
          </a:p>
          <a:p>
            <a:r>
              <a:rPr lang="en-US" sz="900" b="1" dirty="0" smtClean="0">
                <a:solidFill>
                  <a:schemeClr val="bg2">
                    <a:lumMod val="75000"/>
                  </a:schemeClr>
                </a:solidFill>
              </a:rPr>
              <a:t>@Transactional</a:t>
            </a:r>
            <a:r>
              <a:rPr lang="en-US" sz="900" dirty="0" smtClean="0">
                <a:solidFill>
                  <a:schemeClr val="tx1"/>
                </a:solidFill>
              </a:rPr>
              <a:t>(propagation </a:t>
            </a:r>
            <a:r>
              <a:rPr lang="en-US" sz="900" dirty="0">
                <a:solidFill>
                  <a:schemeClr val="tx1"/>
                </a:solidFill>
              </a:rPr>
              <a:t>= Propagation.</a:t>
            </a:r>
            <a:r>
              <a:rPr lang="en-US" sz="900" b="1" i="1" dirty="0">
                <a:solidFill>
                  <a:srgbClr val="0000FF"/>
                </a:solidFill>
              </a:rPr>
              <a:t>REQUIRED</a:t>
            </a:r>
            <a:r>
              <a:rPr lang="en-US" sz="900" i="1" dirty="0" smtClean="0">
                <a:solidFill>
                  <a:schemeClr val="tx1"/>
                </a:solidFill>
              </a:rPr>
              <a:t>)</a:t>
            </a:r>
          </a:p>
          <a:p>
            <a:r>
              <a:rPr lang="en-US" sz="900" b="1" dirty="0" smtClean="0">
                <a:solidFill>
                  <a:srgbClr val="FF0000"/>
                </a:solidFill>
              </a:rPr>
              <a:t>public</a:t>
            </a:r>
            <a:r>
              <a:rPr lang="en-US" sz="900" dirty="0" smtClean="0">
                <a:solidFill>
                  <a:srgbClr val="FF0000"/>
                </a:solidFill>
              </a:rPr>
              <a:t> </a:t>
            </a:r>
            <a:r>
              <a:rPr lang="en-US" sz="900" dirty="0">
                <a:solidFill>
                  <a:schemeClr val="tx1"/>
                </a:solidFill>
              </a:rPr>
              <a:t>Employee </a:t>
            </a:r>
            <a:r>
              <a:rPr lang="en-US" sz="900" b="1" dirty="0" smtClean="0">
                <a:solidFill>
                  <a:srgbClr val="C00000"/>
                </a:solidFill>
              </a:rPr>
              <a:t>addEmployee</a:t>
            </a:r>
            <a:r>
              <a:rPr lang="en-US" sz="900" dirty="0" smtClean="0">
                <a:solidFill>
                  <a:schemeClr val="tx1"/>
                </a:solidFill>
              </a:rPr>
              <a:t>() </a:t>
            </a:r>
            <a:r>
              <a:rPr lang="en-US" sz="900" dirty="0">
                <a:solidFill>
                  <a:schemeClr val="tx1"/>
                </a:solidFill>
              </a:rPr>
              <a:t>{</a:t>
            </a:r>
          </a:p>
          <a:p>
            <a:r>
              <a:rPr lang="en-US" sz="900" dirty="0" smtClean="0">
                <a:solidFill>
                  <a:schemeClr val="tx1"/>
                </a:solidFill>
              </a:rPr>
              <a:t>}</a:t>
            </a:r>
            <a:endParaRPr lang="en-US" sz="900" dirty="0">
              <a:solidFill>
                <a:schemeClr val="tx1"/>
              </a:solidFill>
            </a:endParaRPr>
          </a:p>
        </p:txBody>
      </p:sp>
      <p:cxnSp>
        <p:nvCxnSpPr>
          <p:cNvPr id="42" name="Straight Arrow Connector 41"/>
          <p:cNvCxnSpPr>
            <a:endCxn id="37" idx="1"/>
          </p:cNvCxnSpPr>
          <p:nvPr/>
        </p:nvCxnSpPr>
        <p:spPr>
          <a:xfrm>
            <a:off x="2116184" y="4715692"/>
            <a:ext cx="399923" cy="25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>
            <a:endCxn id="41" idx="1"/>
          </p:cNvCxnSpPr>
          <p:nvPr/>
        </p:nvCxnSpPr>
        <p:spPr>
          <a:xfrm>
            <a:off x="5442857" y="4730817"/>
            <a:ext cx="530552" cy="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: Rounded Corners 11">
            <a:extLst>
              <a:ext uri="{FF2B5EF4-FFF2-40B4-BE49-F238E27FC236}">
                <a16:creationId xmlns="" xmlns:a16="http://schemas.microsoft.com/office/drawing/2014/main" id="{5A1BEE6C-84E1-4224-B447-1AC8A888AAC0}"/>
              </a:ext>
            </a:extLst>
          </p:cNvPr>
          <p:cNvSpPr/>
          <p:nvPr/>
        </p:nvSpPr>
        <p:spPr>
          <a:xfrm>
            <a:off x="2516107" y="1368724"/>
            <a:ext cx="2909334" cy="796023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 smtClean="0">
                <a:solidFill>
                  <a:srgbClr val="7030A0"/>
                </a:solidFill>
              </a:rPr>
              <a:t>EmployeeServiceImpl</a:t>
            </a:r>
          </a:p>
          <a:p>
            <a:r>
              <a:rPr lang="en-US" sz="900" b="1" dirty="0" smtClean="0">
                <a:solidFill>
                  <a:schemeClr val="bg2">
                    <a:lumMod val="75000"/>
                  </a:schemeClr>
                </a:solidFill>
              </a:rPr>
              <a:t>@Transactional</a:t>
            </a:r>
            <a:r>
              <a:rPr lang="en-US" sz="900" dirty="0" smtClean="0">
                <a:solidFill>
                  <a:schemeClr val="tx1"/>
                </a:solidFill>
              </a:rPr>
              <a:t>(propagation </a:t>
            </a:r>
            <a:r>
              <a:rPr lang="en-US" sz="900" dirty="0">
                <a:solidFill>
                  <a:schemeClr val="tx1"/>
                </a:solidFill>
              </a:rPr>
              <a:t>= Propagation.</a:t>
            </a:r>
            <a:r>
              <a:rPr lang="en-US" sz="900" b="1" i="1" dirty="0">
                <a:solidFill>
                  <a:srgbClr val="0000FF"/>
                </a:solidFill>
              </a:rPr>
              <a:t>REQUIRED</a:t>
            </a:r>
            <a:r>
              <a:rPr lang="en-US" sz="900" i="1" dirty="0" smtClean="0">
                <a:solidFill>
                  <a:schemeClr val="tx1"/>
                </a:solidFill>
              </a:rPr>
              <a:t>)</a:t>
            </a:r>
          </a:p>
          <a:p>
            <a:r>
              <a:rPr lang="en-US" sz="900" b="1" dirty="0" smtClean="0">
                <a:solidFill>
                  <a:srgbClr val="FF0000"/>
                </a:solidFill>
              </a:rPr>
              <a:t>public</a:t>
            </a:r>
            <a:r>
              <a:rPr lang="en-US" sz="900" dirty="0" smtClean="0">
                <a:solidFill>
                  <a:srgbClr val="FF0000"/>
                </a:solidFill>
              </a:rPr>
              <a:t> </a:t>
            </a:r>
            <a:r>
              <a:rPr lang="en-US" sz="900" dirty="0">
                <a:solidFill>
                  <a:schemeClr val="tx1"/>
                </a:solidFill>
              </a:rPr>
              <a:t>Employee </a:t>
            </a:r>
            <a:r>
              <a:rPr lang="en-US" sz="900" b="1" dirty="0" smtClean="0">
                <a:solidFill>
                  <a:srgbClr val="C00000"/>
                </a:solidFill>
              </a:rPr>
              <a:t>addEmployee</a:t>
            </a:r>
            <a:r>
              <a:rPr lang="en-US" sz="900" dirty="0" smtClean="0">
                <a:solidFill>
                  <a:schemeClr val="tx1"/>
                </a:solidFill>
              </a:rPr>
              <a:t>() </a:t>
            </a:r>
            <a:r>
              <a:rPr lang="en-US" sz="900" dirty="0">
                <a:solidFill>
                  <a:schemeClr val="tx1"/>
                </a:solidFill>
              </a:rPr>
              <a:t>{</a:t>
            </a:r>
          </a:p>
          <a:p>
            <a:r>
              <a:rPr lang="en-US" sz="900" dirty="0" smtClean="0">
                <a:solidFill>
                  <a:schemeClr val="tx1"/>
                </a:solidFill>
              </a:rPr>
              <a:t>}</a:t>
            </a:r>
            <a:endParaRPr lang="en-US" sz="900" dirty="0">
              <a:solidFill>
                <a:schemeClr val="tx1"/>
              </a:solidFill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6039625" y="147784"/>
            <a:ext cx="4719305" cy="61555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400" b="0" u="sng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PROPAGATION.</a:t>
            </a:r>
            <a:r>
              <a:rPr lang="en-US" sz="3400" b="0" i="1" u="sng" cap="none" spc="0" dirty="0" smtClean="0">
                <a:ln w="0"/>
                <a:solidFill>
                  <a:srgbClr val="0000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REQUIRED</a:t>
            </a:r>
            <a:endParaRPr lang="en-US" sz="3400" b="0" i="1" u="sng" cap="none" spc="0" dirty="0">
              <a:ln w="0"/>
              <a:solidFill>
                <a:srgbClr val="0000FF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901695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="" xmlns:a16="http://schemas.microsoft.com/office/drawing/2014/main" id="{452BE8F3-0295-4B15-80B4-B2026225BC92}"/>
              </a:ext>
            </a:extLst>
          </p:cNvPr>
          <p:cNvSpPr txBox="1"/>
          <p:nvPr/>
        </p:nvSpPr>
        <p:spPr>
          <a:xfrm>
            <a:off x="2882517" y="455561"/>
            <a:ext cx="191403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 smtClean="0">
                <a:solidFill>
                  <a:srgbClr val="002060"/>
                </a:solidFill>
              </a:rPr>
              <a:t>Executed in </a:t>
            </a:r>
          </a:p>
          <a:p>
            <a:pPr algn="ctr"/>
            <a:r>
              <a:rPr lang="en-US" sz="2000" dirty="0" smtClean="0">
                <a:solidFill>
                  <a:srgbClr val="002060"/>
                </a:solidFill>
              </a:rPr>
              <a:t>Transaction </a:t>
            </a:r>
            <a:r>
              <a:rPr lang="en-US" sz="2000" b="1" i="1" u="sng" dirty="0" smtClean="0">
                <a:solidFill>
                  <a:srgbClr val="FF0000"/>
                </a:solidFill>
              </a:rPr>
              <a:t>NO</a:t>
            </a:r>
            <a:endParaRPr lang="en-US" sz="2000" b="1" i="1" u="sng" dirty="0">
              <a:solidFill>
                <a:srgbClr val="FF0000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1976847" y="448611"/>
            <a:ext cx="3666308" cy="216396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2116184" y="1759132"/>
            <a:ext cx="399923" cy="25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="" xmlns:a16="http://schemas.microsoft.com/office/drawing/2014/main" id="{452BE8F3-0295-4B15-80B4-B2026225BC92}"/>
              </a:ext>
            </a:extLst>
          </p:cNvPr>
          <p:cNvSpPr txBox="1"/>
          <p:nvPr/>
        </p:nvSpPr>
        <p:spPr>
          <a:xfrm>
            <a:off x="4638238" y="3405171"/>
            <a:ext cx="191403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 smtClean="0">
                <a:solidFill>
                  <a:srgbClr val="002060"/>
                </a:solidFill>
              </a:rPr>
              <a:t>Executed in </a:t>
            </a:r>
          </a:p>
          <a:p>
            <a:pPr algn="ctr"/>
            <a:r>
              <a:rPr lang="en-US" sz="2000" dirty="0" smtClean="0">
                <a:solidFill>
                  <a:srgbClr val="002060"/>
                </a:solidFill>
              </a:rPr>
              <a:t>Transaction T1</a:t>
            </a:r>
            <a:endParaRPr lang="en-US" sz="2000" dirty="0"/>
          </a:p>
        </p:txBody>
      </p:sp>
      <p:sp>
        <p:nvSpPr>
          <p:cNvPr id="37" name="Rectangle: Rounded Corners 11">
            <a:extLst>
              <a:ext uri="{FF2B5EF4-FFF2-40B4-BE49-F238E27FC236}">
                <a16:creationId xmlns="" xmlns:a16="http://schemas.microsoft.com/office/drawing/2014/main" id="{5A1BEE6C-84E1-4224-B447-1AC8A888AAC0}"/>
              </a:ext>
            </a:extLst>
          </p:cNvPr>
          <p:cNvSpPr/>
          <p:nvPr/>
        </p:nvSpPr>
        <p:spPr>
          <a:xfrm>
            <a:off x="2516107" y="4320263"/>
            <a:ext cx="2909334" cy="796023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 smtClean="0">
                <a:solidFill>
                  <a:srgbClr val="7030A0"/>
                </a:solidFill>
              </a:rPr>
              <a:t>OrganizationServiceImpl</a:t>
            </a:r>
          </a:p>
          <a:p>
            <a:r>
              <a:rPr lang="en-US" sz="900" b="1" dirty="0" smtClean="0">
                <a:solidFill>
                  <a:schemeClr val="bg2">
                    <a:lumMod val="75000"/>
                  </a:schemeClr>
                </a:solidFill>
              </a:rPr>
              <a:t>@Transactional</a:t>
            </a:r>
            <a:r>
              <a:rPr lang="en-US" sz="900" dirty="0" smtClean="0">
                <a:solidFill>
                  <a:schemeClr val="tx1"/>
                </a:solidFill>
              </a:rPr>
              <a:t>(propagation = Propagation.</a:t>
            </a:r>
            <a:r>
              <a:rPr lang="en-US" sz="900" b="1" i="1" dirty="0" smtClean="0">
                <a:solidFill>
                  <a:srgbClr val="0000FF"/>
                </a:solidFill>
              </a:rPr>
              <a:t>REQUIRED</a:t>
            </a:r>
            <a:r>
              <a:rPr lang="en-US" sz="900" i="1" dirty="0" smtClean="0">
                <a:solidFill>
                  <a:schemeClr val="tx1"/>
                </a:solidFill>
              </a:rPr>
              <a:t>)</a:t>
            </a:r>
          </a:p>
          <a:p>
            <a:r>
              <a:rPr lang="en-US" sz="900" b="1" dirty="0">
                <a:solidFill>
                  <a:srgbClr val="FF0000"/>
                </a:solidFill>
              </a:rPr>
              <a:t>public</a:t>
            </a:r>
            <a:r>
              <a:rPr lang="en-US" sz="900" dirty="0">
                <a:solidFill>
                  <a:schemeClr val="tx1"/>
                </a:solidFill>
              </a:rPr>
              <a:t> void </a:t>
            </a:r>
            <a:r>
              <a:rPr lang="en-US" sz="900" b="1" dirty="0">
                <a:solidFill>
                  <a:srgbClr val="C00000"/>
                </a:solidFill>
              </a:rPr>
              <a:t>joinOrganization</a:t>
            </a:r>
            <a:r>
              <a:rPr lang="en-US" sz="900" dirty="0">
                <a:solidFill>
                  <a:schemeClr val="tx1"/>
                </a:solidFill>
              </a:rPr>
              <a:t>() {</a:t>
            </a:r>
          </a:p>
          <a:p>
            <a:r>
              <a:rPr lang="en-US" sz="900" dirty="0">
                <a:solidFill>
                  <a:schemeClr val="tx1"/>
                </a:solidFill>
              </a:rPr>
              <a:t>}</a:t>
            </a:r>
          </a:p>
        </p:txBody>
      </p:sp>
      <p:sp>
        <p:nvSpPr>
          <p:cNvPr id="38" name="Rectangle: Rounded Corners 14">
            <a:extLst>
              <a:ext uri="{FF2B5EF4-FFF2-40B4-BE49-F238E27FC236}">
                <a16:creationId xmlns="" xmlns:a16="http://schemas.microsoft.com/office/drawing/2014/main" id="{E25DC19F-6B3A-4545-BDB8-13C5481B9137}"/>
              </a:ext>
            </a:extLst>
          </p:cNvPr>
          <p:cNvSpPr/>
          <p:nvPr/>
        </p:nvSpPr>
        <p:spPr>
          <a:xfrm>
            <a:off x="2281647" y="4113057"/>
            <a:ext cx="1202410" cy="212228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 smtClean="0"/>
              <a:t>Begin Transaction T1</a:t>
            </a:r>
            <a:endParaRPr lang="en-US" sz="900" dirty="0"/>
          </a:p>
        </p:txBody>
      </p:sp>
      <p:sp>
        <p:nvSpPr>
          <p:cNvPr id="39" name="Rectangle: Rounded Corners 14">
            <a:extLst>
              <a:ext uri="{FF2B5EF4-FFF2-40B4-BE49-F238E27FC236}">
                <a16:creationId xmlns="" xmlns:a16="http://schemas.microsoft.com/office/drawing/2014/main" id="{E25DC19F-6B3A-4545-BDB8-13C5481B9137}"/>
              </a:ext>
            </a:extLst>
          </p:cNvPr>
          <p:cNvSpPr/>
          <p:nvPr/>
        </p:nvSpPr>
        <p:spPr>
          <a:xfrm>
            <a:off x="2281647" y="5128829"/>
            <a:ext cx="1202410" cy="212228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 smtClean="0"/>
              <a:t>End Transaction T1</a:t>
            </a:r>
            <a:endParaRPr lang="en-US" sz="900" dirty="0"/>
          </a:p>
        </p:txBody>
      </p:sp>
      <p:sp>
        <p:nvSpPr>
          <p:cNvPr id="40" name="Rounded Rectangle 39"/>
          <p:cNvSpPr/>
          <p:nvPr/>
        </p:nvSpPr>
        <p:spPr>
          <a:xfrm>
            <a:off x="1976846" y="3405171"/>
            <a:ext cx="7123611" cy="216396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: Rounded Corners 11">
            <a:extLst>
              <a:ext uri="{FF2B5EF4-FFF2-40B4-BE49-F238E27FC236}">
                <a16:creationId xmlns="" xmlns:a16="http://schemas.microsoft.com/office/drawing/2014/main" id="{5A1BEE6C-84E1-4224-B447-1AC8A888AAC0}"/>
              </a:ext>
            </a:extLst>
          </p:cNvPr>
          <p:cNvSpPr/>
          <p:nvPr/>
        </p:nvSpPr>
        <p:spPr>
          <a:xfrm>
            <a:off x="5973409" y="4332806"/>
            <a:ext cx="2909334" cy="796023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 smtClean="0">
                <a:solidFill>
                  <a:srgbClr val="7030A0"/>
                </a:solidFill>
              </a:rPr>
              <a:t>EmployeeServiceImpl</a:t>
            </a:r>
          </a:p>
          <a:p>
            <a:r>
              <a:rPr lang="en-US" sz="900" b="1" dirty="0" smtClean="0">
                <a:solidFill>
                  <a:schemeClr val="bg2">
                    <a:lumMod val="75000"/>
                  </a:schemeClr>
                </a:solidFill>
              </a:rPr>
              <a:t>@Transactional</a:t>
            </a:r>
            <a:r>
              <a:rPr lang="en-US" sz="900" dirty="0" smtClean="0">
                <a:solidFill>
                  <a:schemeClr val="tx1"/>
                </a:solidFill>
              </a:rPr>
              <a:t>(propagation </a:t>
            </a:r>
            <a:r>
              <a:rPr lang="en-US" sz="900" dirty="0">
                <a:solidFill>
                  <a:schemeClr val="tx1"/>
                </a:solidFill>
              </a:rPr>
              <a:t>= Propagation.</a:t>
            </a:r>
            <a:r>
              <a:rPr lang="en-US" sz="900" b="1" i="1" dirty="0">
                <a:solidFill>
                  <a:srgbClr val="0000FF"/>
                </a:solidFill>
              </a:rPr>
              <a:t>SUPPORTS</a:t>
            </a:r>
            <a:r>
              <a:rPr lang="en-US" sz="900" i="1" dirty="0" smtClean="0">
                <a:solidFill>
                  <a:schemeClr val="tx1"/>
                </a:solidFill>
              </a:rPr>
              <a:t>)</a:t>
            </a:r>
          </a:p>
          <a:p>
            <a:r>
              <a:rPr lang="en-US" sz="900" b="1" dirty="0" smtClean="0">
                <a:solidFill>
                  <a:srgbClr val="FF0000"/>
                </a:solidFill>
              </a:rPr>
              <a:t>public</a:t>
            </a:r>
            <a:r>
              <a:rPr lang="en-US" sz="900" dirty="0" smtClean="0">
                <a:solidFill>
                  <a:srgbClr val="FF0000"/>
                </a:solidFill>
              </a:rPr>
              <a:t> </a:t>
            </a:r>
            <a:r>
              <a:rPr lang="en-US" sz="900" dirty="0">
                <a:solidFill>
                  <a:schemeClr val="tx1"/>
                </a:solidFill>
              </a:rPr>
              <a:t>Employee </a:t>
            </a:r>
            <a:r>
              <a:rPr lang="en-US" sz="900" b="1" dirty="0" smtClean="0">
                <a:solidFill>
                  <a:srgbClr val="C00000"/>
                </a:solidFill>
              </a:rPr>
              <a:t>addEmployee</a:t>
            </a:r>
            <a:r>
              <a:rPr lang="en-US" sz="900" dirty="0" smtClean="0">
                <a:solidFill>
                  <a:schemeClr val="tx1"/>
                </a:solidFill>
              </a:rPr>
              <a:t>() </a:t>
            </a:r>
            <a:r>
              <a:rPr lang="en-US" sz="900" dirty="0">
                <a:solidFill>
                  <a:schemeClr val="tx1"/>
                </a:solidFill>
              </a:rPr>
              <a:t>{</a:t>
            </a:r>
          </a:p>
          <a:p>
            <a:r>
              <a:rPr lang="en-US" sz="900" dirty="0" smtClean="0">
                <a:solidFill>
                  <a:schemeClr val="tx1"/>
                </a:solidFill>
              </a:rPr>
              <a:t>}</a:t>
            </a:r>
            <a:endParaRPr lang="en-US" sz="900" dirty="0">
              <a:solidFill>
                <a:schemeClr val="tx1"/>
              </a:solidFill>
            </a:endParaRPr>
          </a:p>
        </p:txBody>
      </p:sp>
      <p:cxnSp>
        <p:nvCxnSpPr>
          <p:cNvPr id="42" name="Straight Arrow Connector 41"/>
          <p:cNvCxnSpPr>
            <a:endCxn id="37" idx="1"/>
          </p:cNvCxnSpPr>
          <p:nvPr/>
        </p:nvCxnSpPr>
        <p:spPr>
          <a:xfrm>
            <a:off x="2116184" y="4715692"/>
            <a:ext cx="399923" cy="25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>
            <a:endCxn id="41" idx="1"/>
          </p:cNvCxnSpPr>
          <p:nvPr/>
        </p:nvCxnSpPr>
        <p:spPr>
          <a:xfrm>
            <a:off x="5442857" y="4730817"/>
            <a:ext cx="530552" cy="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: Rounded Corners 11">
            <a:extLst>
              <a:ext uri="{FF2B5EF4-FFF2-40B4-BE49-F238E27FC236}">
                <a16:creationId xmlns="" xmlns:a16="http://schemas.microsoft.com/office/drawing/2014/main" id="{5A1BEE6C-84E1-4224-B447-1AC8A888AAC0}"/>
              </a:ext>
            </a:extLst>
          </p:cNvPr>
          <p:cNvSpPr/>
          <p:nvPr/>
        </p:nvSpPr>
        <p:spPr>
          <a:xfrm>
            <a:off x="2516107" y="1368724"/>
            <a:ext cx="2909334" cy="796023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 smtClean="0">
                <a:solidFill>
                  <a:srgbClr val="7030A0"/>
                </a:solidFill>
              </a:rPr>
              <a:t>EmployeeServiceImpl</a:t>
            </a:r>
          </a:p>
          <a:p>
            <a:r>
              <a:rPr lang="en-US" sz="900" b="1" dirty="0" smtClean="0">
                <a:solidFill>
                  <a:schemeClr val="bg2">
                    <a:lumMod val="75000"/>
                  </a:schemeClr>
                </a:solidFill>
              </a:rPr>
              <a:t>@Transactional</a:t>
            </a:r>
            <a:r>
              <a:rPr lang="en-US" sz="900" dirty="0" smtClean="0">
                <a:solidFill>
                  <a:schemeClr val="tx1"/>
                </a:solidFill>
              </a:rPr>
              <a:t>(propagation </a:t>
            </a:r>
            <a:r>
              <a:rPr lang="en-US" sz="900" dirty="0">
                <a:solidFill>
                  <a:schemeClr val="tx1"/>
                </a:solidFill>
              </a:rPr>
              <a:t>= </a:t>
            </a:r>
            <a:r>
              <a:rPr lang="en-US" sz="900" dirty="0" smtClean="0">
                <a:solidFill>
                  <a:schemeClr val="tx1"/>
                </a:solidFill>
              </a:rPr>
              <a:t>Propagation.</a:t>
            </a:r>
            <a:r>
              <a:rPr lang="en-US" sz="900" b="1" i="1" dirty="0" smtClean="0">
                <a:solidFill>
                  <a:srgbClr val="0000FF"/>
                </a:solidFill>
              </a:rPr>
              <a:t>SUPPORTS</a:t>
            </a:r>
            <a:r>
              <a:rPr lang="en-US" sz="900" i="1" dirty="0" smtClean="0">
                <a:solidFill>
                  <a:schemeClr val="tx1"/>
                </a:solidFill>
              </a:rPr>
              <a:t>)</a:t>
            </a:r>
          </a:p>
          <a:p>
            <a:r>
              <a:rPr lang="en-US" sz="900" b="1" dirty="0" smtClean="0">
                <a:solidFill>
                  <a:srgbClr val="FF0000"/>
                </a:solidFill>
              </a:rPr>
              <a:t>public</a:t>
            </a:r>
            <a:r>
              <a:rPr lang="en-US" sz="900" dirty="0" smtClean="0">
                <a:solidFill>
                  <a:srgbClr val="FF0000"/>
                </a:solidFill>
              </a:rPr>
              <a:t> </a:t>
            </a:r>
            <a:r>
              <a:rPr lang="en-US" sz="900" dirty="0">
                <a:solidFill>
                  <a:schemeClr val="tx1"/>
                </a:solidFill>
              </a:rPr>
              <a:t>Employee </a:t>
            </a:r>
            <a:r>
              <a:rPr lang="en-US" sz="900" b="1" dirty="0" smtClean="0">
                <a:solidFill>
                  <a:srgbClr val="C00000"/>
                </a:solidFill>
              </a:rPr>
              <a:t>addEmployee</a:t>
            </a:r>
            <a:r>
              <a:rPr lang="en-US" sz="900" dirty="0" smtClean="0">
                <a:solidFill>
                  <a:schemeClr val="tx1"/>
                </a:solidFill>
              </a:rPr>
              <a:t>() </a:t>
            </a:r>
            <a:r>
              <a:rPr lang="en-US" sz="900" dirty="0">
                <a:solidFill>
                  <a:schemeClr val="tx1"/>
                </a:solidFill>
              </a:rPr>
              <a:t>{</a:t>
            </a:r>
          </a:p>
          <a:p>
            <a:r>
              <a:rPr lang="en-US" sz="900" dirty="0" smtClean="0">
                <a:solidFill>
                  <a:schemeClr val="tx1"/>
                </a:solidFill>
              </a:rPr>
              <a:t>}</a:t>
            </a:r>
            <a:endParaRPr lang="en-US" sz="900" dirty="0">
              <a:solidFill>
                <a:schemeClr val="tx1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036741" y="147784"/>
            <a:ext cx="4725076" cy="61555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400" b="0" u="sng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PROPAGATION.</a:t>
            </a:r>
            <a:r>
              <a:rPr lang="en-US" sz="3400" b="0" i="1" u="sng" cap="none" spc="0" dirty="0" smtClean="0">
                <a:ln w="0"/>
                <a:solidFill>
                  <a:srgbClr val="0000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SUPPORTS</a:t>
            </a:r>
            <a:endParaRPr lang="en-US" sz="3400" b="0" i="1" u="sng" cap="none" spc="0" dirty="0">
              <a:ln w="0"/>
              <a:solidFill>
                <a:srgbClr val="0000FF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5420412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="" xmlns:a16="http://schemas.microsoft.com/office/drawing/2014/main" id="{452BE8F3-0295-4B15-80B4-B2026225BC92}"/>
              </a:ext>
            </a:extLst>
          </p:cNvPr>
          <p:cNvSpPr txBox="1"/>
          <p:nvPr/>
        </p:nvSpPr>
        <p:spPr>
          <a:xfrm>
            <a:off x="2194540" y="668789"/>
            <a:ext cx="191403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 smtClean="0">
                <a:solidFill>
                  <a:srgbClr val="002060"/>
                </a:solidFill>
              </a:rPr>
              <a:t>Executed in </a:t>
            </a:r>
          </a:p>
          <a:p>
            <a:pPr algn="ctr"/>
            <a:r>
              <a:rPr lang="en-US" sz="2000" dirty="0" smtClean="0">
                <a:solidFill>
                  <a:srgbClr val="002060"/>
                </a:solidFill>
              </a:rPr>
              <a:t>Transaction </a:t>
            </a:r>
            <a:r>
              <a:rPr lang="en-US" sz="2000" b="1" i="1" u="sng" dirty="0" smtClean="0">
                <a:solidFill>
                  <a:srgbClr val="FF0000"/>
                </a:solidFill>
              </a:rPr>
              <a:t>NO</a:t>
            </a:r>
            <a:endParaRPr lang="en-US" sz="2000" b="1" i="1" u="sng" dirty="0">
              <a:solidFill>
                <a:srgbClr val="FF0000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1158240" y="661839"/>
            <a:ext cx="3796938" cy="216396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1236009" y="1980600"/>
            <a:ext cx="399923" cy="25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="" xmlns:a16="http://schemas.microsoft.com/office/drawing/2014/main" id="{452BE8F3-0295-4B15-80B4-B2026225BC92}"/>
              </a:ext>
            </a:extLst>
          </p:cNvPr>
          <p:cNvSpPr txBox="1"/>
          <p:nvPr/>
        </p:nvSpPr>
        <p:spPr>
          <a:xfrm>
            <a:off x="2626557" y="3393899"/>
            <a:ext cx="191403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 smtClean="0">
                <a:solidFill>
                  <a:srgbClr val="002060"/>
                </a:solidFill>
              </a:rPr>
              <a:t>Executed in </a:t>
            </a:r>
          </a:p>
          <a:p>
            <a:pPr algn="ctr"/>
            <a:r>
              <a:rPr lang="en-US" sz="2000" dirty="0" smtClean="0">
                <a:solidFill>
                  <a:srgbClr val="002060"/>
                </a:solidFill>
              </a:rPr>
              <a:t>Transaction </a:t>
            </a:r>
            <a:r>
              <a:rPr lang="en-US" sz="2000" b="1" dirty="0" smtClean="0">
                <a:solidFill>
                  <a:srgbClr val="0000FF"/>
                </a:solidFill>
              </a:rPr>
              <a:t>T1</a:t>
            </a:r>
            <a:endParaRPr lang="en-US" sz="2000" b="1" dirty="0">
              <a:solidFill>
                <a:srgbClr val="0000FF"/>
              </a:solidFill>
            </a:endParaRPr>
          </a:p>
        </p:txBody>
      </p:sp>
      <p:sp>
        <p:nvSpPr>
          <p:cNvPr id="37" name="Rectangle: Rounded Corners 11">
            <a:extLst>
              <a:ext uri="{FF2B5EF4-FFF2-40B4-BE49-F238E27FC236}">
                <a16:creationId xmlns="" xmlns:a16="http://schemas.microsoft.com/office/drawing/2014/main" id="{5A1BEE6C-84E1-4224-B447-1AC8A888AAC0}"/>
              </a:ext>
            </a:extLst>
          </p:cNvPr>
          <p:cNvSpPr/>
          <p:nvPr/>
        </p:nvSpPr>
        <p:spPr>
          <a:xfrm>
            <a:off x="2437729" y="4320263"/>
            <a:ext cx="2909334" cy="796023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 smtClean="0">
                <a:solidFill>
                  <a:srgbClr val="7030A0"/>
                </a:solidFill>
              </a:rPr>
              <a:t>OrganizationServiceImpl</a:t>
            </a:r>
          </a:p>
          <a:p>
            <a:r>
              <a:rPr lang="en-US" sz="900" b="1" dirty="0" smtClean="0">
                <a:solidFill>
                  <a:schemeClr val="bg2">
                    <a:lumMod val="75000"/>
                  </a:schemeClr>
                </a:solidFill>
              </a:rPr>
              <a:t>@Transactional</a:t>
            </a:r>
            <a:r>
              <a:rPr lang="en-US" sz="900" dirty="0" smtClean="0">
                <a:solidFill>
                  <a:schemeClr val="tx1"/>
                </a:solidFill>
              </a:rPr>
              <a:t>(propagation = Propagation.</a:t>
            </a:r>
            <a:r>
              <a:rPr lang="en-US" sz="900" b="1" i="1" dirty="0" smtClean="0">
                <a:solidFill>
                  <a:srgbClr val="0000FF"/>
                </a:solidFill>
              </a:rPr>
              <a:t>REQUIRED</a:t>
            </a:r>
            <a:r>
              <a:rPr lang="en-US" sz="900" i="1" dirty="0" smtClean="0">
                <a:solidFill>
                  <a:schemeClr val="tx1"/>
                </a:solidFill>
              </a:rPr>
              <a:t>)</a:t>
            </a:r>
          </a:p>
          <a:p>
            <a:r>
              <a:rPr lang="en-US" sz="900" b="1" dirty="0">
                <a:solidFill>
                  <a:srgbClr val="FF0000"/>
                </a:solidFill>
              </a:rPr>
              <a:t>public</a:t>
            </a:r>
            <a:r>
              <a:rPr lang="en-US" sz="900" dirty="0">
                <a:solidFill>
                  <a:schemeClr val="tx1"/>
                </a:solidFill>
              </a:rPr>
              <a:t> void </a:t>
            </a:r>
            <a:r>
              <a:rPr lang="en-US" sz="900" b="1" dirty="0">
                <a:solidFill>
                  <a:srgbClr val="C00000"/>
                </a:solidFill>
              </a:rPr>
              <a:t>joinOrganization</a:t>
            </a:r>
            <a:r>
              <a:rPr lang="en-US" sz="900" dirty="0">
                <a:solidFill>
                  <a:schemeClr val="tx1"/>
                </a:solidFill>
              </a:rPr>
              <a:t>() {</a:t>
            </a:r>
          </a:p>
          <a:p>
            <a:r>
              <a:rPr lang="en-US" sz="900" dirty="0">
                <a:solidFill>
                  <a:schemeClr val="tx1"/>
                </a:solidFill>
              </a:rPr>
              <a:t>}</a:t>
            </a:r>
          </a:p>
        </p:txBody>
      </p:sp>
      <p:sp>
        <p:nvSpPr>
          <p:cNvPr id="38" name="Rectangle: Rounded Corners 14">
            <a:extLst>
              <a:ext uri="{FF2B5EF4-FFF2-40B4-BE49-F238E27FC236}">
                <a16:creationId xmlns="" xmlns:a16="http://schemas.microsoft.com/office/drawing/2014/main" id="{E25DC19F-6B3A-4545-BDB8-13C5481B9137}"/>
              </a:ext>
            </a:extLst>
          </p:cNvPr>
          <p:cNvSpPr/>
          <p:nvPr/>
        </p:nvSpPr>
        <p:spPr>
          <a:xfrm>
            <a:off x="2203269" y="4113057"/>
            <a:ext cx="1202410" cy="212228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 smtClean="0"/>
              <a:t>Begin Transaction T1</a:t>
            </a:r>
            <a:endParaRPr lang="en-US" sz="900" dirty="0"/>
          </a:p>
        </p:txBody>
      </p:sp>
      <p:sp>
        <p:nvSpPr>
          <p:cNvPr id="39" name="Rectangle: Rounded Corners 14">
            <a:extLst>
              <a:ext uri="{FF2B5EF4-FFF2-40B4-BE49-F238E27FC236}">
                <a16:creationId xmlns="" xmlns:a16="http://schemas.microsoft.com/office/drawing/2014/main" id="{E25DC19F-6B3A-4545-BDB8-13C5481B9137}"/>
              </a:ext>
            </a:extLst>
          </p:cNvPr>
          <p:cNvSpPr/>
          <p:nvPr/>
        </p:nvSpPr>
        <p:spPr>
          <a:xfrm>
            <a:off x="2203269" y="5128829"/>
            <a:ext cx="1202410" cy="212228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 smtClean="0"/>
              <a:t>End Transaction T1</a:t>
            </a:r>
            <a:endParaRPr lang="en-US" sz="900" dirty="0"/>
          </a:p>
        </p:txBody>
      </p:sp>
      <p:sp>
        <p:nvSpPr>
          <p:cNvPr id="40" name="Rounded Rectangle 39"/>
          <p:cNvSpPr/>
          <p:nvPr/>
        </p:nvSpPr>
        <p:spPr>
          <a:xfrm>
            <a:off x="1898469" y="3405171"/>
            <a:ext cx="3544388" cy="216396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Straight Arrow Connector 41"/>
          <p:cNvCxnSpPr>
            <a:endCxn id="37" idx="1"/>
          </p:cNvCxnSpPr>
          <p:nvPr/>
        </p:nvCxnSpPr>
        <p:spPr>
          <a:xfrm>
            <a:off x="2037806" y="4715692"/>
            <a:ext cx="399923" cy="25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5442857" y="4730817"/>
            <a:ext cx="530552" cy="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: Rounded Corners 11">
            <a:extLst>
              <a:ext uri="{FF2B5EF4-FFF2-40B4-BE49-F238E27FC236}">
                <a16:creationId xmlns="" xmlns:a16="http://schemas.microsoft.com/office/drawing/2014/main" id="{5A1BEE6C-84E1-4224-B447-1AC8A888AAC0}"/>
              </a:ext>
            </a:extLst>
          </p:cNvPr>
          <p:cNvSpPr/>
          <p:nvPr/>
        </p:nvSpPr>
        <p:spPr>
          <a:xfrm>
            <a:off x="1635932" y="1583881"/>
            <a:ext cx="3232160" cy="796023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 smtClean="0">
                <a:solidFill>
                  <a:srgbClr val="7030A0"/>
                </a:solidFill>
              </a:rPr>
              <a:t>EmployeeServiceImpl</a:t>
            </a:r>
          </a:p>
          <a:p>
            <a:r>
              <a:rPr lang="en-US" sz="900" b="1" dirty="0" smtClean="0">
                <a:solidFill>
                  <a:schemeClr val="bg2">
                    <a:lumMod val="75000"/>
                  </a:schemeClr>
                </a:solidFill>
              </a:rPr>
              <a:t>@Transactional</a:t>
            </a:r>
            <a:r>
              <a:rPr lang="en-US" sz="900" dirty="0" smtClean="0">
                <a:solidFill>
                  <a:schemeClr val="tx1"/>
                </a:solidFill>
              </a:rPr>
              <a:t>(propagation </a:t>
            </a:r>
            <a:r>
              <a:rPr lang="en-US" sz="900" dirty="0">
                <a:solidFill>
                  <a:schemeClr val="tx1"/>
                </a:solidFill>
              </a:rPr>
              <a:t>= </a:t>
            </a:r>
            <a:r>
              <a:rPr lang="en-US" sz="900" dirty="0" smtClean="0">
                <a:solidFill>
                  <a:schemeClr val="tx1"/>
                </a:solidFill>
              </a:rPr>
              <a:t>Propagation.</a:t>
            </a:r>
            <a:r>
              <a:rPr lang="en-US" sz="900" b="1" i="1" dirty="0" smtClean="0">
                <a:solidFill>
                  <a:srgbClr val="0000FF"/>
                </a:solidFill>
              </a:rPr>
              <a:t>NOT_SUPPORTED</a:t>
            </a:r>
            <a:r>
              <a:rPr lang="en-US" sz="900" i="1" dirty="0" smtClean="0">
                <a:solidFill>
                  <a:schemeClr val="tx1"/>
                </a:solidFill>
              </a:rPr>
              <a:t>)</a:t>
            </a:r>
            <a:endParaRPr lang="en-US" sz="900" i="1" dirty="0" smtClean="0">
              <a:solidFill>
                <a:schemeClr val="tx1"/>
              </a:solidFill>
            </a:endParaRPr>
          </a:p>
          <a:p>
            <a:r>
              <a:rPr lang="en-US" sz="900" b="1" dirty="0" smtClean="0">
                <a:solidFill>
                  <a:srgbClr val="FF0000"/>
                </a:solidFill>
              </a:rPr>
              <a:t>public</a:t>
            </a:r>
            <a:r>
              <a:rPr lang="en-US" sz="900" dirty="0" smtClean="0">
                <a:solidFill>
                  <a:srgbClr val="FF0000"/>
                </a:solidFill>
              </a:rPr>
              <a:t> </a:t>
            </a:r>
            <a:r>
              <a:rPr lang="en-US" sz="900" dirty="0">
                <a:solidFill>
                  <a:schemeClr val="tx1"/>
                </a:solidFill>
              </a:rPr>
              <a:t>Employee </a:t>
            </a:r>
            <a:r>
              <a:rPr lang="en-US" sz="900" b="1" dirty="0" smtClean="0">
                <a:solidFill>
                  <a:srgbClr val="C00000"/>
                </a:solidFill>
              </a:rPr>
              <a:t>addEmployee</a:t>
            </a:r>
            <a:r>
              <a:rPr lang="en-US" sz="900" dirty="0" smtClean="0">
                <a:solidFill>
                  <a:schemeClr val="tx1"/>
                </a:solidFill>
              </a:rPr>
              <a:t>() </a:t>
            </a:r>
            <a:r>
              <a:rPr lang="en-US" sz="900" dirty="0">
                <a:solidFill>
                  <a:schemeClr val="tx1"/>
                </a:solidFill>
              </a:rPr>
              <a:t>{</a:t>
            </a:r>
          </a:p>
          <a:p>
            <a:r>
              <a:rPr lang="en-US" sz="900" dirty="0" smtClean="0">
                <a:solidFill>
                  <a:schemeClr val="tx1"/>
                </a:solidFill>
              </a:rPr>
              <a:t>}</a:t>
            </a:r>
            <a:endParaRPr lang="en-US" sz="900" dirty="0">
              <a:solidFill>
                <a:schemeClr val="tx1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402883" y="147784"/>
            <a:ext cx="5992795" cy="61555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400" b="0" u="sng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PROPAGATION.</a:t>
            </a:r>
            <a:r>
              <a:rPr lang="en-US" sz="3400" b="0" i="1" u="sng" cap="none" spc="0" dirty="0" smtClean="0">
                <a:ln w="0"/>
                <a:solidFill>
                  <a:srgbClr val="0000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NOT_SUPPORTED</a:t>
            </a:r>
            <a:endParaRPr lang="en-US" sz="3400" b="0" i="1" u="sng" cap="none" spc="0" dirty="0">
              <a:ln w="0"/>
              <a:solidFill>
                <a:srgbClr val="0000FF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755695" y="3405171"/>
            <a:ext cx="3527642" cy="216396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: Rounded Corners 11">
            <a:extLst>
              <a:ext uri="{FF2B5EF4-FFF2-40B4-BE49-F238E27FC236}">
                <a16:creationId xmlns="" xmlns:a16="http://schemas.microsoft.com/office/drawing/2014/main" id="{5A1BEE6C-84E1-4224-B447-1AC8A888AAC0}"/>
              </a:ext>
            </a:extLst>
          </p:cNvPr>
          <p:cNvSpPr/>
          <p:nvPr/>
        </p:nvSpPr>
        <p:spPr>
          <a:xfrm>
            <a:off x="5964701" y="4332806"/>
            <a:ext cx="3232160" cy="796023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 smtClean="0">
                <a:solidFill>
                  <a:srgbClr val="7030A0"/>
                </a:solidFill>
              </a:rPr>
              <a:t>EmployeeServiceImpl</a:t>
            </a:r>
          </a:p>
          <a:p>
            <a:r>
              <a:rPr lang="en-US" sz="900" b="1" dirty="0" smtClean="0">
                <a:solidFill>
                  <a:schemeClr val="bg2">
                    <a:lumMod val="75000"/>
                  </a:schemeClr>
                </a:solidFill>
              </a:rPr>
              <a:t>@Transactional</a:t>
            </a:r>
            <a:r>
              <a:rPr lang="en-US" sz="900" dirty="0" smtClean="0">
                <a:solidFill>
                  <a:schemeClr val="tx1"/>
                </a:solidFill>
              </a:rPr>
              <a:t>(propagation </a:t>
            </a:r>
            <a:r>
              <a:rPr lang="en-US" sz="900" dirty="0">
                <a:solidFill>
                  <a:schemeClr val="tx1"/>
                </a:solidFill>
              </a:rPr>
              <a:t>= </a:t>
            </a:r>
            <a:r>
              <a:rPr lang="en-US" sz="900" dirty="0" smtClean="0">
                <a:solidFill>
                  <a:schemeClr val="tx1"/>
                </a:solidFill>
              </a:rPr>
              <a:t>Propagation.</a:t>
            </a:r>
            <a:r>
              <a:rPr lang="en-US" sz="900" b="1" i="1" dirty="0" smtClean="0">
                <a:solidFill>
                  <a:srgbClr val="0000FF"/>
                </a:solidFill>
              </a:rPr>
              <a:t>NOT_SUPPORTED</a:t>
            </a:r>
            <a:r>
              <a:rPr lang="en-US" sz="900" i="1" dirty="0" smtClean="0">
                <a:solidFill>
                  <a:schemeClr val="tx1"/>
                </a:solidFill>
              </a:rPr>
              <a:t>)</a:t>
            </a:r>
            <a:endParaRPr lang="en-US" sz="900" i="1" dirty="0" smtClean="0">
              <a:solidFill>
                <a:schemeClr val="tx1"/>
              </a:solidFill>
            </a:endParaRPr>
          </a:p>
          <a:p>
            <a:r>
              <a:rPr lang="en-US" sz="900" b="1" dirty="0" smtClean="0">
                <a:solidFill>
                  <a:srgbClr val="FF0000"/>
                </a:solidFill>
              </a:rPr>
              <a:t>public</a:t>
            </a:r>
            <a:r>
              <a:rPr lang="en-US" sz="900" dirty="0" smtClean="0">
                <a:solidFill>
                  <a:srgbClr val="FF0000"/>
                </a:solidFill>
              </a:rPr>
              <a:t> </a:t>
            </a:r>
            <a:r>
              <a:rPr lang="en-US" sz="900" dirty="0">
                <a:solidFill>
                  <a:schemeClr val="tx1"/>
                </a:solidFill>
              </a:rPr>
              <a:t>Employee </a:t>
            </a:r>
            <a:r>
              <a:rPr lang="en-US" sz="900" b="1" dirty="0" smtClean="0">
                <a:solidFill>
                  <a:srgbClr val="C00000"/>
                </a:solidFill>
              </a:rPr>
              <a:t>addEmployee</a:t>
            </a:r>
            <a:r>
              <a:rPr lang="en-US" sz="900" dirty="0" smtClean="0">
                <a:solidFill>
                  <a:schemeClr val="tx1"/>
                </a:solidFill>
              </a:rPr>
              <a:t>() </a:t>
            </a:r>
            <a:r>
              <a:rPr lang="en-US" sz="900" dirty="0">
                <a:solidFill>
                  <a:schemeClr val="tx1"/>
                </a:solidFill>
              </a:rPr>
              <a:t>{</a:t>
            </a:r>
          </a:p>
          <a:p>
            <a:r>
              <a:rPr lang="en-US" sz="900" dirty="0" smtClean="0">
                <a:solidFill>
                  <a:schemeClr val="tx1"/>
                </a:solidFill>
              </a:rPr>
              <a:t>}</a:t>
            </a:r>
            <a:endParaRPr lang="en-US" sz="900" dirty="0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="" xmlns:a16="http://schemas.microsoft.com/office/drawing/2014/main" id="{452BE8F3-0295-4B15-80B4-B2026225BC92}"/>
              </a:ext>
            </a:extLst>
          </p:cNvPr>
          <p:cNvSpPr txBox="1"/>
          <p:nvPr/>
        </p:nvSpPr>
        <p:spPr>
          <a:xfrm>
            <a:off x="6562497" y="3473433"/>
            <a:ext cx="191403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 smtClean="0">
                <a:solidFill>
                  <a:srgbClr val="002060"/>
                </a:solidFill>
              </a:rPr>
              <a:t>Executed in </a:t>
            </a:r>
          </a:p>
          <a:p>
            <a:pPr algn="ctr"/>
            <a:r>
              <a:rPr lang="en-US" sz="2000" dirty="0" smtClean="0">
                <a:solidFill>
                  <a:srgbClr val="002060"/>
                </a:solidFill>
              </a:rPr>
              <a:t>Transaction </a:t>
            </a:r>
            <a:r>
              <a:rPr lang="en-US" sz="2000" b="1" i="1" u="sng" dirty="0" smtClean="0">
                <a:solidFill>
                  <a:srgbClr val="FF0000"/>
                </a:solidFill>
              </a:rPr>
              <a:t>NO</a:t>
            </a:r>
            <a:endParaRPr lang="en-US" sz="2000" b="1" i="1" u="sng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97679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="" xmlns:a16="http://schemas.microsoft.com/office/drawing/2014/main" id="{452BE8F3-0295-4B15-80B4-B2026225BC92}"/>
              </a:ext>
            </a:extLst>
          </p:cNvPr>
          <p:cNvSpPr txBox="1"/>
          <p:nvPr/>
        </p:nvSpPr>
        <p:spPr>
          <a:xfrm>
            <a:off x="2194540" y="668789"/>
            <a:ext cx="191403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 smtClean="0">
                <a:solidFill>
                  <a:srgbClr val="002060"/>
                </a:solidFill>
              </a:rPr>
              <a:t>Executed in </a:t>
            </a:r>
          </a:p>
          <a:p>
            <a:pPr algn="ctr"/>
            <a:r>
              <a:rPr lang="en-US" sz="2000" dirty="0" smtClean="0">
                <a:solidFill>
                  <a:srgbClr val="002060"/>
                </a:solidFill>
              </a:rPr>
              <a:t>Transaction </a:t>
            </a:r>
            <a:r>
              <a:rPr lang="en-US" sz="2000" b="1" dirty="0" smtClean="0">
                <a:solidFill>
                  <a:srgbClr val="0000FF"/>
                </a:solidFill>
              </a:rPr>
              <a:t>T1</a:t>
            </a:r>
            <a:endParaRPr lang="en-US" sz="2000" b="1" dirty="0">
              <a:solidFill>
                <a:srgbClr val="0000FF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1158240" y="661839"/>
            <a:ext cx="3796938" cy="216396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1236009" y="1980600"/>
            <a:ext cx="399923" cy="25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="" xmlns:a16="http://schemas.microsoft.com/office/drawing/2014/main" id="{452BE8F3-0295-4B15-80B4-B2026225BC92}"/>
              </a:ext>
            </a:extLst>
          </p:cNvPr>
          <p:cNvSpPr txBox="1"/>
          <p:nvPr/>
        </p:nvSpPr>
        <p:spPr>
          <a:xfrm>
            <a:off x="2626557" y="3393899"/>
            <a:ext cx="191403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 smtClean="0">
                <a:solidFill>
                  <a:srgbClr val="002060"/>
                </a:solidFill>
              </a:rPr>
              <a:t>Executed in </a:t>
            </a:r>
          </a:p>
          <a:p>
            <a:pPr algn="ctr"/>
            <a:r>
              <a:rPr lang="en-US" sz="2000" dirty="0" smtClean="0">
                <a:solidFill>
                  <a:srgbClr val="002060"/>
                </a:solidFill>
              </a:rPr>
              <a:t>Transaction </a:t>
            </a:r>
            <a:r>
              <a:rPr lang="en-US" sz="2000" b="1" dirty="0" smtClean="0">
                <a:solidFill>
                  <a:srgbClr val="0000FF"/>
                </a:solidFill>
              </a:rPr>
              <a:t>T1</a:t>
            </a:r>
            <a:endParaRPr lang="en-US" sz="2000" b="1" dirty="0">
              <a:solidFill>
                <a:srgbClr val="0000FF"/>
              </a:solidFill>
            </a:endParaRPr>
          </a:p>
        </p:txBody>
      </p:sp>
      <p:sp>
        <p:nvSpPr>
          <p:cNvPr id="37" name="Rectangle: Rounded Corners 11">
            <a:extLst>
              <a:ext uri="{FF2B5EF4-FFF2-40B4-BE49-F238E27FC236}">
                <a16:creationId xmlns="" xmlns:a16="http://schemas.microsoft.com/office/drawing/2014/main" id="{5A1BEE6C-84E1-4224-B447-1AC8A888AAC0}"/>
              </a:ext>
            </a:extLst>
          </p:cNvPr>
          <p:cNvSpPr/>
          <p:nvPr/>
        </p:nvSpPr>
        <p:spPr>
          <a:xfrm>
            <a:off x="2437729" y="4320263"/>
            <a:ext cx="2909334" cy="796023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 smtClean="0">
                <a:solidFill>
                  <a:srgbClr val="7030A0"/>
                </a:solidFill>
              </a:rPr>
              <a:t>OrganizationServiceImpl</a:t>
            </a:r>
          </a:p>
          <a:p>
            <a:r>
              <a:rPr lang="en-US" sz="900" b="1" dirty="0" smtClean="0">
                <a:solidFill>
                  <a:schemeClr val="bg2">
                    <a:lumMod val="75000"/>
                  </a:schemeClr>
                </a:solidFill>
              </a:rPr>
              <a:t>@Transactional</a:t>
            </a:r>
            <a:r>
              <a:rPr lang="en-US" sz="900" dirty="0" smtClean="0">
                <a:solidFill>
                  <a:schemeClr val="tx1"/>
                </a:solidFill>
              </a:rPr>
              <a:t>(propagation = Propagation.</a:t>
            </a:r>
            <a:r>
              <a:rPr lang="en-US" sz="900" b="1" i="1" dirty="0" smtClean="0">
                <a:solidFill>
                  <a:srgbClr val="0000FF"/>
                </a:solidFill>
              </a:rPr>
              <a:t>REQUIRED</a:t>
            </a:r>
            <a:r>
              <a:rPr lang="en-US" sz="900" i="1" dirty="0" smtClean="0">
                <a:solidFill>
                  <a:schemeClr val="tx1"/>
                </a:solidFill>
              </a:rPr>
              <a:t>)</a:t>
            </a:r>
          </a:p>
          <a:p>
            <a:r>
              <a:rPr lang="en-US" sz="900" b="1" dirty="0">
                <a:solidFill>
                  <a:srgbClr val="FF0000"/>
                </a:solidFill>
              </a:rPr>
              <a:t>public</a:t>
            </a:r>
            <a:r>
              <a:rPr lang="en-US" sz="900" dirty="0">
                <a:solidFill>
                  <a:schemeClr val="tx1"/>
                </a:solidFill>
              </a:rPr>
              <a:t> void </a:t>
            </a:r>
            <a:r>
              <a:rPr lang="en-US" sz="900" b="1" dirty="0">
                <a:solidFill>
                  <a:srgbClr val="C00000"/>
                </a:solidFill>
              </a:rPr>
              <a:t>joinOrganization</a:t>
            </a:r>
            <a:r>
              <a:rPr lang="en-US" sz="900" dirty="0">
                <a:solidFill>
                  <a:schemeClr val="tx1"/>
                </a:solidFill>
              </a:rPr>
              <a:t>() {</a:t>
            </a:r>
          </a:p>
          <a:p>
            <a:r>
              <a:rPr lang="en-US" sz="900" dirty="0">
                <a:solidFill>
                  <a:schemeClr val="tx1"/>
                </a:solidFill>
              </a:rPr>
              <a:t>}</a:t>
            </a:r>
          </a:p>
        </p:txBody>
      </p:sp>
      <p:sp>
        <p:nvSpPr>
          <p:cNvPr id="38" name="Rectangle: Rounded Corners 14">
            <a:extLst>
              <a:ext uri="{FF2B5EF4-FFF2-40B4-BE49-F238E27FC236}">
                <a16:creationId xmlns="" xmlns:a16="http://schemas.microsoft.com/office/drawing/2014/main" id="{E25DC19F-6B3A-4545-BDB8-13C5481B9137}"/>
              </a:ext>
            </a:extLst>
          </p:cNvPr>
          <p:cNvSpPr/>
          <p:nvPr/>
        </p:nvSpPr>
        <p:spPr>
          <a:xfrm>
            <a:off x="2203269" y="4113057"/>
            <a:ext cx="1202410" cy="212228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 smtClean="0"/>
              <a:t>Begin Transaction T1</a:t>
            </a:r>
            <a:endParaRPr lang="en-US" sz="900" dirty="0"/>
          </a:p>
        </p:txBody>
      </p:sp>
      <p:sp>
        <p:nvSpPr>
          <p:cNvPr id="39" name="Rectangle: Rounded Corners 14">
            <a:extLst>
              <a:ext uri="{FF2B5EF4-FFF2-40B4-BE49-F238E27FC236}">
                <a16:creationId xmlns="" xmlns:a16="http://schemas.microsoft.com/office/drawing/2014/main" id="{E25DC19F-6B3A-4545-BDB8-13C5481B9137}"/>
              </a:ext>
            </a:extLst>
          </p:cNvPr>
          <p:cNvSpPr/>
          <p:nvPr/>
        </p:nvSpPr>
        <p:spPr>
          <a:xfrm>
            <a:off x="2203269" y="5128829"/>
            <a:ext cx="1202410" cy="212228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 smtClean="0"/>
              <a:t>End Transaction T1</a:t>
            </a:r>
            <a:endParaRPr lang="en-US" sz="900" dirty="0"/>
          </a:p>
        </p:txBody>
      </p:sp>
      <p:sp>
        <p:nvSpPr>
          <p:cNvPr id="40" name="Rounded Rectangle 39"/>
          <p:cNvSpPr/>
          <p:nvPr/>
        </p:nvSpPr>
        <p:spPr>
          <a:xfrm>
            <a:off x="1898469" y="3405171"/>
            <a:ext cx="3544388" cy="216396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Straight Arrow Connector 41"/>
          <p:cNvCxnSpPr>
            <a:endCxn id="37" idx="1"/>
          </p:cNvCxnSpPr>
          <p:nvPr/>
        </p:nvCxnSpPr>
        <p:spPr>
          <a:xfrm>
            <a:off x="2037806" y="4715692"/>
            <a:ext cx="399923" cy="25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5442857" y="4730817"/>
            <a:ext cx="530552" cy="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: Rounded Corners 11">
            <a:extLst>
              <a:ext uri="{FF2B5EF4-FFF2-40B4-BE49-F238E27FC236}">
                <a16:creationId xmlns="" xmlns:a16="http://schemas.microsoft.com/office/drawing/2014/main" id="{5A1BEE6C-84E1-4224-B447-1AC8A888AAC0}"/>
              </a:ext>
            </a:extLst>
          </p:cNvPr>
          <p:cNvSpPr/>
          <p:nvPr/>
        </p:nvSpPr>
        <p:spPr>
          <a:xfrm>
            <a:off x="1635932" y="1583881"/>
            <a:ext cx="3171199" cy="796023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 smtClean="0">
                <a:solidFill>
                  <a:srgbClr val="7030A0"/>
                </a:solidFill>
              </a:rPr>
              <a:t>EmployeeServiceImpl</a:t>
            </a:r>
          </a:p>
          <a:p>
            <a:r>
              <a:rPr lang="en-US" sz="900" b="1" dirty="0" smtClean="0">
                <a:solidFill>
                  <a:schemeClr val="bg2">
                    <a:lumMod val="75000"/>
                  </a:schemeClr>
                </a:solidFill>
              </a:rPr>
              <a:t>@Transactional</a:t>
            </a:r>
            <a:r>
              <a:rPr lang="en-US" sz="900" dirty="0" smtClean="0">
                <a:solidFill>
                  <a:schemeClr val="tx1"/>
                </a:solidFill>
              </a:rPr>
              <a:t>(propagation </a:t>
            </a:r>
            <a:r>
              <a:rPr lang="en-US" sz="900" dirty="0">
                <a:solidFill>
                  <a:schemeClr val="tx1"/>
                </a:solidFill>
              </a:rPr>
              <a:t>= </a:t>
            </a:r>
            <a:r>
              <a:rPr lang="en-US" sz="900" dirty="0">
                <a:solidFill>
                  <a:schemeClr val="tx1"/>
                </a:solidFill>
              </a:rPr>
              <a:t>Propagation.</a:t>
            </a:r>
            <a:r>
              <a:rPr lang="en-US" sz="900" b="1" i="1" dirty="0">
                <a:solidFill>
                  <a:srgbClr val="0000FF"/>
                </a:solidFill>
              </a:rPr>
              <a:t>REQUIRES_NEW</a:t>
            </a:r>
            <a:r>
              <a:rPr lang="en-US" sz="900" i="1" dirty="0" smtClean="0">
                <a:solidFill>
                  <a:schemeClr val="tx1"/>
                </a:solidFill>
              </a:rPr>
              <a:t>)</a:t>
            </a:r>
            <a:endParaRPr lang="en-US" sz="900" i="1" dirty="0" smtClean="0">
              <a:solidFill>
                <a:schemeClr val="tx1"/>
              </a:solidFill>
            </a:endParaRPr>
          </a:p>
          <a:p>
            <a:r>
              <a:rPr lang="en-US" sz="900" b="1" dirty="0" smtClean="0">
                <a:solidFill>
                  <a:srgbClr val="FF0000"/>
                </a:solidFill>
              </a:rPr>
              <a:t>public</a:t>
            </a:r>
            <a:r>
              <a:rPr lang="en-US" sz="900" dirty="0" smtClean="0">
                <a:solidFill>
                  <a:srgbClr val="FF0000"/>
                </a:solidFill>
              </a:rPr>
              <a:t> </a:t>
            </a:r>
            <a:r>
              <a:rPr lang="en-US" sz="900" dirty="0">
                <a:solidFill>
                  <a:schemeClr val="tx1"/>
                </a:solidFill>
              </a:rPr>
              <a:t>Employee </a:t>
            </a:r>
            <a:r>
              <a:rPr lang="en-US" sz="900" b="1" dirty="0" smtClean="0">
                <a:solidFill>
                  <a:srgbClr val="C00000"/>
                </a:solidFill>
              </a:rPr>
              <a:t>addEmployee</a:t>
            </a:r>
            <a:r>
              <a:rPr lang="en-US" sz="900" dirty="0" smtClean="0">
                <a:solidFill>
                  <a:schemeClr val="tx1"/>
                </a:solidFill>
              </a:rPr>
              <a:t>() </a:t>
            </a:r>
            <a:r>
              <a:rPr lang="en-US" sz="900" dirty="0">
                <a:solidFill>
                  <a:schemeClr val="tx1"/>
                </a:solidFill>
              </a:rPr>
              <a:t>{</a:t>
            </a:r>
          </a:p>
          <a:p>
            <a:r>
              <a:rPr lang="en-US" sz="900" dirty="0" smtClean="0">
                <a:solidFill>
                  <a:schemeClr val="tx1"/>
                </a:solidFill>
              </a:rPr>
              <a:t>}</a:t>
            </a:r>
            <a:endParaRPr lang="en-US" sz="900" dirty="0">
              <a:solidFill>
                <a:schemeClr val="tx1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529713" y="147784"/>
            <a:ext cx="5739136" cy="61555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400" u="sng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PROPAGATION.</a:t>
            </a:r>
            <a:r>
              <a:rPr lang="en-US" sz="3400" i="1" u="sng" dirty="0" smtClean="0">
                <a:ln w="0"/>
                <a:solidFill>
                  <a:srgbClr val="0000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REQUIRES_NEW</a:t>
            </a:r>
            <a:endParaRPr lang="en-US" sz="3400" b="0" i="1" u="sng" cap="none" spc="0" dirty="0">
              <a:ln w="0"/>
              <a:solidFill>
                <a:srgbClr val="0000FF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755695" y="3405171"/>
            <a:ext cx="3527642" cy="216396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: Rounded Corners 11">
            <a:extLst>
              <a:ext uri="{FF2B5EF4-FFF2-40B4-BE49-F238E27FC236}">
                <a16:creationId xmlns="" xmlns:a16="http://schemas.microsoft.com/office/drawing/2014/main" id="{5A1BEE6C-84E1-4224-B447-1AC8A888AAC0}"/>
              </a:ext>
            </a:extLst>
          </p:cNvPr>
          <p:cNvSpPr/>
          <p:nvPr/>
        </p:nvSpPr>
        <p:spPr>
          <a:xfrm>
            <a:off x="5964701" y="4332806"/>
            <a:ext cx="3232160" cy="796023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 smtClean="0">
                <a:solidFill>
                  <a:srgbClr val="7030A0"/>
                </a:solidFill>
              </a:rPr>
              <a:t>EmployeeServiceImpl</a:t>
            </a:r>
          </a:p>
          <a:p>
            <a:r>
              <a:rPr lang="en-US" sz="900" b="1" dirty="0" smtClean="0">
                <a:solidFill>
                  <a:schemeClr val="bg2">
                    <a:lumMod val="75000"/>
                  </a:schemeClr>
                </a:solidFill>
              </a:rPr>
              <a:t>@Transactional</a:t>
            </a:r>
            <a:r>
              <a:rPr lang="en-US" sz="900" dirty="0" smtClean="0">
                <a:solidFill>
                  <a:schemeClr val="tx1"/>
                </a:solidFill>
              </a:rPr>
              <a:t>(propagation </a:t>
            </a:r>
            <a:r>
              <a:rPr lang="en-US" sz="900" dirty="0">
                <a:solidFill>
                  <a:schemeClr val="tx1"/>
                </a:solidFill>
              </a:rPr>
              <a:t>= </a:t>
            </a:r>
            <a:r>
              <a:rPr lang="en-US" sz="900" dirty="0" smtClean="0">
                <a:solidFill>
                  <a:schemeClr val="tx1"/>
                </a:solidFill>
              </a:rPr>
              <a:t>Propagation.</a:t>
            </a:r>
            <a:r>
              <a:rPr lang="en-US" sz="900" b="1" i="1" dirty="0" smtClean="0">
                <a:solidFill>
                  <a:srgbClr val="0000FF"/>
                </a:solidFill>
              </a:rPr>
              <a:t>REQUIRES_NEW</a:t>
            </a:r>
            <a:r>
              <a:rPr lang="en-US" sz="900" i="1" dirty="0" smtClean="0">
                <a:solidFill>
                  <a:schemeClr val="tx1"/>
                </a:solidFill>
              </a:rPr>
              <a:t>)</a:t>
            </a:r>
            <a:endParaRPr lang="en-US" sz="900" i="1" dirty="0" smtClean="0">
              <a:solidFill>
                <a:schemeClr val="tx1"/>
              </a:solidFill>
            </a:endParaRPr>
          </a:p>
          <a:p>
            <a:r>
              <a:rPr lang="en-US" sz="900" b="1" dirty="0" smtClean="0">
                <a:solidFill>
                  <a:srgbClr val="FF0000"/>
                </a:solidFill>
              </a:rPr>
              <a:t>public</a:t>
            </a:r>
            <a:r>
              <a:rPr lang="en-US" sz="900" dirty="0" smtClean="0">
                <a:solidFill>
                  <a:srgbClr val="FF0000"/>
                </a:solidFill>
              </a:rPr>
              <a:t> </a:t>
            </a:r>
            <a:r>
              <a:rPr lang="en-US" sz="900" dirty="0">
                <a:solidFill>
                  <a:schemeClr val="tx1"/>
                </a:solidFill>
              </a:rPr>
              <a:t>Employee </a:t>
            </a:r>
            <a:r>
              <a:rPr lang="en-US" sz="900" b="1" dirty="0" smtClean="0">
                <a:solidFill>
                  <a:srgbClr val="C00000"/>
                </a:solidFill>
              </a:rPr>
              <a:t>addEmployee</a:t>
            </a:r>
            <a:r>
              <a:rPr lang="en-US" sz="900" dirty="0" smtClean="0">
                <a:solidFill>
                  <a:schemeClr val="tx1"/>
                </a:solidFill>
              </a:rPr>
              <a:t>() </a:t>
            </a:r>
            <a:r>
              <a:rPr lang="en-US" sz="900" dirty="0">
                <a:solidFill>
                  <a:schemeClr val="tx1"/>
                </a:solidFill>
              </a:rPr>
              <a:t>{</a:t>
            </a:r>
          </a:p>
          <a:p>
            <a:r>
              <a:rPr lang="en-US" sz="900" dirty="0" smtClean="0">
                <a:solidFill>
                  <a:schemeClr val="tx1"/>
                </a:solidFill>
              </a:rPr>
              <a:t>}</a:t>
            </a:r>
            <a:endParaRPr lang="en-US" sz="900" dirty="0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="" xmlns:a16="http://schemas.microsoft.com/office/drawing/2014/main" id="{452BE8F3-0295-4B15-80B4-B2026225BC92}"/>
              </a:ext>
            </a:extLst>
          </p:cNvPr>
          <p:cNvSpPr txBox="1"/>
          <p:nvPr/>
        </p:nvSpPr>
        <p:spPr>
          <a:xfrm>
            <a:off x="6562497" y="3473433"/>
            <a:ext cx="191403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 smtClean="0">
                <a:solidFill>
                  <a:srgbClr val="002060"/>
                </a:solidFill>
              </a:rPr>
              <a:t>Executed in </a:t>
            </a:r>
          </a:p>
          <a:p>
            <a:pPr algn="ctr"/>
            <a:r>
              <a:rPr lang="en-US" sz="2000" dirty="0" smtClean="0">
                <a:solidFill>
                  <a:srgbClr val="002060"/>
                </a:solidFill>
              </a:rPr>
              <a:t>Transaction </a:t>
            </a:r>
            <a:r>
              <a:rPr lang="en-US" sz="2000" b="1" dirty="0" smtClean="0">
                <a:solidFill>
                  <a:srgbClr val="00B050"/>
                </a:solidFill>
              </a:rPr>
              <a:t>T2</a:t>
            </a:r>
            <a:endParaRPr lang="en-US" sz="2000" b="1" dirty="0">
              <a:solidFill>
                <a:srgbClr val="00B050"/>
              </a:solidFill>
            </a:endParaRPr>
          </a:p>
        </p:txBody>
      </p:sp>
      <p:sp>
        <p:nvSpPr>
          <p:cNvPr id="19" name="Rectangle: Rounded Corners 14">
            <a:extLst>
              <a:ext uri="{FF2B5EF4-FFF2-40B4-BE49-F238E27FC236}">
                <a16:creationId xmlns="" xmlns:a16="http://schemas.microsoft.com/office/drawing/2014/main" id="{E25DC19F-6B3A-4545-BDB8-13C5481B9137}"/>
              </a:ext>
            </a:extLst>
          </p:cNvPr>
          <p:cNvSpPr/>
          <p:nvPr/>
        </p:nvSpPr>
        <p:spPr>
          <a:xfrm>
            <a:off x="1424147" y="1374164"/>
            <a:ext cx="1202410" cy="212228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 smtClean="0"/>
              <a:t>Begin Transaction T1</a:t>
            </a:r>
            <a:endParaRPr lang="en-US" sz="900" dirty="0"/>
          </a:p>
        </p:txBody>
      </p:sp>
      <p:sp>
        <p:nvSpPr>
          <p:cNvPr id="20" name="Rectangle: Rounded Corners 14">
            <a:extLst>
              <a:ext uri="{FF2B5EF4-FFF2-40B4-BE49-F238E27FC236}">
                <a16:creationId xmlns="" xmlns:a16="http://schemas.microsoft.com/office/drawing/2014/main" id="{E25DC19F-6B3A-4545-BDB8-13C5481B9137}"/>
              </a:ext>
            </a:extLst>
          </p:cNvPr>
          <p:cNvSpPr/>
          <p:nvPr/>
        </p:nvSpPr>
        <p:spPr>
          <a:xfrm>
            <a:off x="1424147" y="2383029"/>
            <a:ext cx="1202410" cy="212228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 smtClean="0"/>
              <a:t>End Transaction T1</a:t>
            </a:r>
            <a:endParaRPr lang="en-US" sz="900" dirty="0"/>
          </a:p>
        </p:txBody>
      </p:sp>
      <p:sp>
        <p:nvSpPr>
          <p:cNvPr id="21" name="Rectangle: Rounded Corners 14">
            <a:extLst>
              <a:ext uri="{FF2B5EF4-FFF2-40B4-BE49-F238E27FC236}">
                <a16:creationId xmlns="" xmlns:a16="http://schemas.microsoft.com/office/drawing/2014/main" id="{E25DC19F-6B3A-4545-BDB8-13C5481B9137}"/>
              </a:ext>
            </a:extLst>
          </p:cNvPr>
          <p:cNvSpPr/>
          <p:nvPr/>
        </p:nvSpPr>
        <p:spPr>
          <a:xfrm>
            <a:off x="5804873" y="4128556"/>
            <a:ext cx="1202410" cy="21222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 smtClean="0"/>
              <a:t>Begin Transaction </a:t>
            </a:r>
            <a:r>
              <a:rPr lang="en-US" sz="900" dirty="0" smtClean="0"/>
              <a:t>T2</a:t>
            </a:r>
            <a:endParaRPr lang="en-US" sz="900" dirty="0"/>
          </a:p>
        </p:txBody>
      </p:sp>
      <p:sp>
        <p:nvSpPr>
          <p:cNvPr id="22" name="Rectangle: Rounded Corners 14">
            <a:extLst>
              <a:ext uri="{FF2B5EF4-FFF2-40B4-BE49-F238E27FC236}">
                <a16:creationId xmlns="" xmlns:a16="http://schemas.microsoft.com/office/drawing/2014/main" id="{E25DC19F-6B3A-4545-BDB8-13C5481B9137}"/>
              </a:ext>
            </a:extLst>
          </p:cNvPr>
          <p:cNvSpPr/>
          <p:nvPr/>
        </p:nvSpPr>
        <p:spPr>
          <a:xfrm>
            <a:off x="5804873" y="5116286"/>
            <a:ext cx="1202410" cy="21222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 smtClean="0"/>
              <a:t>End Transaction T2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1103513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264</TotalTime>
  <Words>260</Words>
  <Application>Microsoft Office PowerPoint</Application>
  <PresentationFormat>Widescreen</PresentationFormat>
  <Paragraphs>104</Paragraphs>
  <Slides>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Shabtay Shalem</dc:creator>
  <cp:lastModifiedBy>Shabtay Shalem</cp:lastModifiedBy>
  <cp:revision>22</cp:revision>
  <dcterms:created xsi:type="dcterms:W3CDTF">2022-12-18T23:38:50Z</dcterms:created>
  <dcterms:modified xsi:type="dcterms:W3CDTF">2022-12-24T21:10:03Z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29eea9c-5281-4377-b6bc-afc76db9d7b4_Enabled">
    <vt:lpwstr>true</vt:lpwstr>
  </property>
  <property fmtid="{D5CDD505-2E9C-101B-9397-08002B2CF9AE}" pid="3" name="MSIP_Label_229eea9c-5281-4377-b6bc-afc76db9d7b4_SetDate">
    <vt:lpwstr>2022-12-19T00:17:31Z</vt:lpwstr>
  </property>
  <property fmtid="{D5CDD505-2E9C-101B-9397-08002B2CF9AE}" pid="4" name="MSIP_Label_229eea9c-5281-4377-b6bc-afc76db9d7b4_Method">
    <vt:lpwstr>Privileged</vt:lpwstr>
  </property>
  <property fmtid="{D5CDD505-2E9C-101B-9397-08002B2CF9AE}" pid="5" name="MSIP_Label_229eea9c-5281-4377-b6bc-afc76db9d7b4_Name">
    <vt:lpwstr>229eea9c-5281-4377-b6bc-afc76db9d7b4</vt:lpwstr>
  </property>
  <property fmtid="{D5CDD505-2E9C-101B-9397-08002B2CF9AE}" pid="6" name="MSIP_Label_229eea9c-5281-4377-b6bc-afc76db9d7b4_SiteId">
    <vt:lpwstr>af73baa8-f594-4eb2-a39d-93e96cad61fc</vt:lpwstr>
  </property>
  <property fmtid="{D5CDD505-2E9C-101B-9397-08002B2CF9AE}" pid="7" name="MSIP_Label_229eea9c-5281-4377-b6bc-afc76db9d7b4_ActionId">
    <vt:lpwstr>e673a9c2-c64b-43fe-9c9e-166a0a0a65dc</vt:lpwstr>
  </property>
  <property fmtid="{D5CDD505-2E9C-101B-9397-08002B2CF9AE}" pid="8" name="MSIP_Label_229eea9c-5281-4377-b6bc-afc76db9d7b4_ContentBits">
    <vt:lpwstr>2</vt:lpwstr>
  </property>
</Properties>
</file>